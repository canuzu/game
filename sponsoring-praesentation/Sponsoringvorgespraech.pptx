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 und kurze Vorstellung. Ziel des Termins: Sponsoring vorstellen, euren Verein kennenlernen, nächste Schritte vereinbaren.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Ablauf in vier Teilen: erst wir, dann ihr, dann unser Konzept, dann die nächsten Schritte.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Finanzkraft und Erfahrung der Swiss Life-Gruppe: gegründet 1857, Hauptsitz Zürich, 10 Mrd. CHF Eigenkapital, 250 Mrd. CHF verwaltetes Vermögen, 4 Mio. Kundinnen und Kunden, einer der größten Immobilienbesitzer der Schweiz.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Swiss Life in Europa: Schweiz, Deutschland, Frankreich, Österreich, Luxemburg, Liechtenstein, Tschechien, Slowakei und Großbritannien.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Swiss Life Select in Deutschland: über 35 Jahre Erfahrung, 1,6 Millionen Kunden, über 300 Standorte. Persönliche Best-Select-Beratung, Partner in allen Finanzfragen.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 in die Runde: Wo holt ihr euch heute Finanzrat? Institute (Banken, Versicherer) beraten persönlich, Vergleichsportale bieten große Auswahl.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Kehrseite: Institute haben eine begrenzte Produktpalette, Vergleichsportale keine persönliche Beratung und keine dauerhafte Betreuung.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Swiss Life Select verbindet das Beste aus beiden Welten: persönliche Beratung, Service und dauerhafte Betreuung – und eine große Produktpalette mit hohem Digitalisierungsgrad.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Finanzierungen: Wir vergleichen die Angebote vieler Banken und Förderinstitute (z. B. KfW, NRW.BANK). Optional Erklärvideo.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Best-Select-System: rund 90 Produktpartner, ein Ansprechpartner. Wir wählen für euch die beste Lösung aus.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Alles aus einer Hand: Finanzen &amp; Versicherung, Sponsoring, Expats-Beratung, Kooperation mit dbb beamtenbund und tarifunion, Immobilien Einkommen, Finanzierungen über Interhyp, Firmenberatung,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Jetzt seid ihr dran: Fragen nacheinander stellen und Antworten notieren.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Unser Sponsoringkonzept: 1.000 € Ausstattung über 11teamsports, Gegenleistung: mindestens 4 Tester, persönliche Übergabe vor 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1.000 € über 11teamsports: Der Verein sucht aus (Trikots, Taschen, Trainingsanzüge …). Wir bestellen und bringen die Ware vorbei.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Mindestens 4 Tester: Alter 18–35, sollten Vollzeit arbeiten.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sieht die Analyse aus (Beispiel Altersvorsorge): Versorgungsziel, Versorgungslücke und unser Lösungsvorschlag.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Beispielhafter Vorteil: im Schnitt 5.000 € in fünf Jahren. Und ganz wichtig: Niemand muss Kunde werden!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Übergabe vor Ort: Wir kommen mit den Artikeln ins Vereinsheim und stellen uns allen vor – mit Fotos für eure Kanäle.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Alternativ: Termin in unserer Kanzlei über Köln.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Eine gemeinsame WhatsApp-Gruppe: Bestellstatus, Termine, Übergabe – alles transparent für 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nächsten Schritte – jeder Klick zeigt einen weiteren.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Schritt 1: Ihr stimmt euch ab. Passt alles?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Schritt 2: Wir kommen zum Training oder Spiel vorbei.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Schritt 3: Mindestens 4 Tester testen 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Schritt 4: Wir bestellen eure 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Schritt 5: Wir kommen vorbei und stellen uns der gesamten Mannschaft 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Abschlussfrage stellen – und bewusst eine Pause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 freuen uns auf euch!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youtube.com/watch?v=1AS6czWoVOU" TargetMode="External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youtube.com/watch?v=1AS6czWoVOU" TargetMode="External"/><Relationship Id="rId4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13.xml"/><Relationship Id="rId8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jpg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7.png"/><Relationship Id="rId8" Type="http://schemas.openxmlformats.org/officeDocument/2006/relationships/image" Target="../media/image2.png"/><Relationship Id="rId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1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3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2.png"/><Relationship Id="rId9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21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2.png"/><Relationship Id="rId9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35.png"/><Relationship Id="rId5" Type="http://schemas.openxmlformats.org/officeDocument/2006/relationships/image" Target="../media/image20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2.png"/><Relationship Id="rId9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Relationship Id="rId8" Type="http://schemas.openxmlformats.org/officeDocument/2006/relationships/image" Target="../media/image2.png"/><Relationship Id="rId9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41.png"/><Relationship Id="rId8" Type="http://schemas.openxmlformats.org/officeDocument/2006/relationships/image" Target="../media/image2.png"/><Relationship Id="rId9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2.png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695" y="509270"/>
            <a:ext cx="3611245" cy="3146297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5715000" y="4064000"/>
            <a:ext cx="762000" cy="19050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titel"/>
          <p:cNvSpPr txBox="1"/>
          <p:nvPr/>
        </p:nvSpPr>
        <p:spPr>
          <a:xfrm>
            <a:off x="0" y="4241800"/>
            <a:ext cx="1219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600" b="0" i="0">
                <a:solidFill>
                  <a:srgbClr val="1C1C1E"/>
                </a:solidFill>
                <a:latin typeface="Georgia"/>
              </a:rPr>
              <a:t>Willkommen zum Sponsoringvorgespräch!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96640" y="4081780"/>
            <a:ext cx="5923280" cy="58674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AGENDA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0" i="0">
                <a:solidFill>
                  <a:srgbClr val="1C1C1E"/>
                </a:solidFill>
                <a:latin typeface="Georgia"/>
              </a:rPr>
              <a:t>Sponsoringvorgespräch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1930400"/>
            <a:ext cx="5842000" cy="9525"/>
          </a:xfrm>
          <a:prstGeom prst="rect">
            <a:avLst/>
          </a:prstGeom>
          <a:solidFill>
            <a:srgbClr val="D6D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2500" y="2146300"/>
            <a:ext cx="6985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900" b="0" i="0">
                <a:solidFill>
                  <a:srgbClr val="D82034"/>
                </a:solidFill>
                <a:latin typeface="Georgia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2600" y="2095500"/>
            <a:ext cx="5016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1C1C1E"/>
                </a:solidFill>
                <a:latin typeface="Calibri"/>
              </a:rPr>
              <a:t>Wir stellen uns vor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2438400"/>
            <a:ext cx="5016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7A7A80"/>
                </a:solidFill>
                <a:latin typeface="Calibri"/>
              </a:rPr>
              <a:t>Swiss Life · Swiss Life Select · Best-Select-System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774950"/>
            <a:ext cx="5842000" cy="9525"/>
          </a:xfrm>
          <a:prstGeom prst="rect">
            <a:avLst/>
          </a:prstGeom>
          <a:solidFill>
            <a:srgbClr val="D6D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2500" y="2990850"/>
            <a:ext cx="6985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900" b="0" i="0">
                <a:solidFill>
                  <a:srgbClr val="D82034"/>
                </a:solidFill>
                <a:latin typeface="Georgi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2600" y="2940050"/>
            <a:ext cx="5016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1C1C1E"/>
                </a:solidFill>
                <a:latin typeface="Calibri"/>
              </a:rPr>
              <a:t>Wie sieht eure Vereinsstruktur aus?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2600" y="3282950"/>
            <a:ext cx="5016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7A7A80"/>
                </a:solidFill>
                <a:latin typeface="Calibri"/>
              </a:rPr>
              <a:t>Mitglieder, Mannschaften, Bedarf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2500" y="3619500"/>
            <a:ext cx="5842000" cy="9525"/>
          </a:xfrm>
          <a:prstGeom prst="rect">
            <a:avLst/>
          </a:prstGeom>
          <a:solidFill>
            <a:srgbClr val="D6D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2500" y="3835400"/>
            <a:ext cx="6985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900" b="0" i="0">
                <a:solidFill>
                  <a:srgbClr val="D82034"/>
                </a:solidFill>
                <a:latin typeface="Georgia"/>
              </a:rPr>
              <a:t>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2600" y="3784600"/>
            <a:ext cx="5016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1C1C1E"/>
                </a:solidFill>
                <a:latin typeface="Calibri"/>
              </a:rPr>
              <a:t>Unser Sponsoringkonzept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2600" y="4127500"/>
            <a:ext cx="5016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7A7A80"/>
                </a:solidFill>
                <a:latin typeface="Calibri"/>
              </a:rPr>
              <a:t>1.000 € Ausstattung · mindestens 4 Tester · Übergabe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2500" y="4464050"/>
            <a:ext cx="5842000" cy="9525"/>
          </a:xfrm>
          <a:prstGeom prst="rect">
            <a:avLst/>
          </a:prstGeom>
          <a:solidFill>
            <a:srgbClr val="D6D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2500" y="4679950"/>
            <a:ext cx="6985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900" b="0" i="0">
                <a:solidFill>
                  <a:srgbClr val="D82034"/>
                </a:solidFill>
                <a:latin typeface="Georgia"/>
              </a:rP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2600" y="4629150"/>
            <a:ext cx="5016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1C1C1E"/>
                </a:solidFill>
                <a:latin typeface="Calibri"/>
              </a:rPr>
              <a:t>Wie geht es weiter?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2600" y="4972050"/>
            <a:ext cx="5016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7A7A80"/>
                </a:solidFill>
                <a:latin typeface="Calibri"/>
              </a:rPr>
              <a:t>In 5 Schritten zum Sponsoring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500" y="5308600"/>
            <a:ext cx="5842000" cy="9525"/>
          </a:xfrm>
          <a:prstGeom prst="rect">
            <a:avLst/>
          </a:prstGeom>
          <a:solidFill>
            <a:srgbClr val="D6D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Fotos" descr="agenda-fo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8000"/>
            <a:ext cx="5080000" cy="5969000"/>
          </a:xfrm>
          <a:prstGeom prst="rect">
            <a:avLst/>
          </a:prstGeom>
        </p:spPr>
      </p:pic>
      <p:pic>
        <p:nvPicPr>
          <p:cNvPr id="24" name="!!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100" y="-2959100"/>
            <a:ext cx="5384800" cy="53340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 · WIR STELLEN UNS VOR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700" b="0" i="0">
                <a:solidFill>
                  <a:srgbClr val="1C1C1E"/>
                </a:solidFill>
                <a:latin typeface="Georgia"/>
              </a:rPr>
              <a:t>Das Unternehmen Swiss Life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952500" y="16637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1">
                <a:solidFill>
                  <a:srgbClr val="7A7A80"/>
                </a:solidFill>
                <a:latin typeface="Georgia"/>
              </a:rPr>
              <a:t>Finanzkraft und Erfahrung</a:t>
            </a:r>
          </a:p>
        </p:txBody>
      </p:sp>
      <p:sp>
        <p:nvSpPr>
          <p:cNvPr id="7" name="!!kachel0"/>
          <p:cNvSpPr/>
          <p:nvPr/>
        </p:nvSpPr>
        <p:spPr>
          <a:xfrm>
            <a:off x="952500" y="2349500"/>
            <a:ext cx="2654300" cy="1066800"/>
          </a:xfrm>
          <a:prstGeom prst="rect">
            <a:avLst/>
          </a:prstGeom>
          <a:solidFill>
            <a:srgbClr val="D2B07B"/>
          </a:solidFill>
          <a:ln>
            <a:noFill/>
          </a:ln>
          <a:effectLst>
            <a:outerShdw blurRad="254000" dist="1143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kz0"/>
          <p:cNvSpPr txBox="1"/>
          <p:nvPr/>
        </p:nvSpPr>
        <p:spPr>
          <a:xfrm>
            <a:off x="952500" y="2540000"/>
            <a:ext cx="26543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b="0" i="0">
                <a:solidFill>
                  <a:srgbClr val="FFFFFF"/>
                </a:solidFill>
                <a:latin typeface="Georgia"/>
              </a:rPr>
              <a:t>1857</a:t>
            </a:r>
            <a:r>
              <a:rPr sz="1750" b="0" i="0">
                <a:solidFill>
                  <a:srgbClr val="FFFFFF"/>
                </a:solidFill>
                <a:latin typeface="Georgia"/>
              </a:rPr>
              <a:t/>
            </a:r>
          </a:p>
        </p:txBody>
      </p:sp>
      <p:sp>
        <p:nvSpPr>
          <p:cNvPr id="9" name="!!kl0"/>
          <p:cNvSpPr txBox="1"/>
          <p:nvPr/>
        </p:nvSpPr>
        <p:spPr>
          <a:xfrm>
            <a:off x="1079500" y="3022600"/>
            <a:ext cx="2400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gegründet</a:t>
            </a:r>
          </a:p>
        </p:txBody>
      </p:sp>
      <p:sp>
        <p:nvSpPr>
          <p:cNvPr id="10" name="!!kachel1"/>
          <p:cNvSpPr/>
          <p:nvPr/>
        </p:nvSpPr>
        <p:spPr>
          <a:xfrm>
            <a:off x="3708400" y="2349500"/>
            <a:ext cx="2654300" cy="1066800"/>
          </a:xfrm>
          <a:prstGeom prst="rect">
            <a:avLst/>
          </a:prstGeom>
          <a:solidFill>
            <a:srgbClr val="DD7E87"/>
          </a:solidFill>
          <a:ln>
            <a:noFill/>
          </a:ln>
          <a:effectLst>
            <a:outerShdw blurRad="254000" dist="1143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kz1"/>
          <p:cNvSpPr txBox="1"/>
          <p:nvPr/>
        </p:nvSpPr>
        <p:spPr>
          <a:xfrm>
            <a:off x="3708400" y="2540000"/>
            <a:ext cx="26543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b="0" i="0">
                <a:solidFill>
                  <a:srgbClr val="FFFFFF"/>
                </a:solidFill>
                <a:latin typeface="Georgia"/>
              </a:rPr>
              <a:t>10 Mrd. </a:t>
            </a:r>
            <a:r>
              <a:rPr sz="1750" b="0" i="0">
                <a:solidFill>
                  <a:srgbClr val="FFFFFF"/>
                </a:solidFill>
                <a:latin typeface="Georgia"/>
              </a:rPr>
              <a:t>CHF</a:t>
            </a:r>
          </a:p>
        </p:txBody>
      </p:sp>
      <p:sp>
        <p:nvSpPr>
          <p:cNvPr id="12" name="!!kl1"/>
          <p:cNvSpPr txBox="1"/>
          <p:nvPr/>
        </p:nvSpPr>
        <p:spPr>
          <a:xfrm>
            <a:off x="3835400" y="3022600"/>
            <a:ext cx="2400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Eigenkapital der Swiss Life-Gruppe</a:t>
            </a:r>
          </a:p>
        </p:txBody>
      </p:sp>
      <p:sp>
        <p:nvSpPr>
          <p:cNvPr id="13" name="!!kachel2"/>
          <p:cNvSpPr/>
          <p:nvPr/>
        </p:nvSpPr>
        <p:spPr>
          <a:xfrm>
            <a:off x="952500" y="3517900"/>
            <a:ext cx="2654300" cy="1066800"/>
          </a:xfrm>
          <a:prstGeom prst="rect">
            <a:avLst/>
          </a:prstGeom>
          <a:solidFill>
            <a:srgbClr val="8B1C34"/>
          </a:solidFill>
          <a:ln>
            <a:noFill/>
          </a:ln>
          <a:effectLst>
            <a:outerShdw blurRad="254000" dist="1143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kz2"/>
          <p:cNvSpPr txBox="1"/>
          <p:nvPr/>
        </p:nvSpPr>
        <p:spPr>
          <a:xfrm>
            <a:off x="952500" y="3708400"/>
            <a:ext cx="26543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b="0" i="0">
                <a:solidFill>
                  <a:srgbClr val="FFFFFF"/>
                </a:solidFill>
                <a:latin typeface="Georgia"/>
              </a:rPr>
              <a:t>250 Mrd. </a:t>
            </a:r>
            <a:r>
              <a:rPr sz="1750" b="0" i="0">
                <a:solidFill>
                  <a:srgbClr val="FFFFFF"/>
                </a:solidFill>
                <a:latin typeface="Georgia"/>
              </a:rPr>
              <a:t>CHF</a:t>
            </a:r>
          </a:p>
        </p:txBody>
      </p:sp>
      <p:sp>
        <p:nvSpPr>
          <p:cNvPr id="15" name="!!kl2"/>
          <p:cNvSpPr txBox="1"/>
          <p:nvPr/>
        </p:nvSpPr>
        <p:spPr>
          <a:xfrm>
            <a:off x="1079500" y="4191000"/>
            <a:ext cx="2400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verwaltetes Vermögen</a:t>
            </a:r>
          </a:p>
        </p:txBody>
      </p:sp>
      <p:sp>
        <p:nvSpPr>
          <p:cNvPr id="16" name="!!kachel3"/>
          <p:cNvSpPr/>
          <p:nvPr/>
        </p:nvSpPr>
        <p:spPr>
          <a:xfrm>
            <a:off x="3708400" y="3517900"/>
            <a:ext cx="2654300" cy="1066800"/>
          </a:xfrm>
          <a:prstGeom prst="rect">
            <a:avLst/>
          </a:prstGeom>
          <a:solidFill>
            <a:srgbClr val="C4532E"/>
          </a:solidFill>
          <a:ln>
            <a:noFill/>
          </a:ln>
          <a:effectLst>
            <a:outerShdw blurRad="254000" dist="1143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kz3"/>
          <p:cNvSpPr txBox="1"/>
          <p:nvPr/>
        </p:nvSpPr>
        <p:spPr>
          <a:xfrm>
            <a:off x="3708400" y="3708400"/>
            <a:ext cx="26543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b="0" i="0">
                <a:solidFill>
                  <a:srgbClr val="FFFFFF"/>
                </a:solidFill>
                <a:latin typeface="Georgia"/>
              </a:rPr>
              <a:t>4 Mio.</a:t>
            </a:r>
            <a:r>
              <a:rPr sz="1750" b="0" i="0">
                <a:solidFill>
                  <a:srgbClr val="FFFFFF"/>
                </a:solidFill>
                <a:latin typeface="Georgia"/>
              </a:rPr>
              <a:t/>
            </a:r>
          </a:p>
        </p:txBody>
      </p:sp>
      <p:sp>
        <p:nvSpPr>
          <p:cNvPr id="18" name="!!kl3"/>
          <p:cNvSpPr txBox="1"/>
          <p:nvPr/>
        </p:nvSpPr>
        <p:spPr>
          <a:xfrm>
            <a:off x="3835400" y="4191000"/>
            <a:ext cx="2400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Kundinnen und Kunden weltweit</a:t>
            </a:r>
          </a:p>
        </p:txBody>
      </p:sp>
      <p:sp>
        <p:nvSpPr>
          <p:cNvPr id="19" name="!!kachel4"/>
          <p:cNvSpPr/>
          <p:nvPr/>
        </p:nvSpPr>
        <p:spPr>
          <a:xfrm>
            <a:off x="952500" y="4686300"/>
            <a:ext cx="5410200" cy="952500"/>
          </a:xfrm>
          <a:prstGeom prst="rect">
            <a:avLst/>
          </a:prstGeom>
          <a:solidFill>
            <a:srgbClr val="67686C"/>
          </a:solidFill>
          <a:ln>
            <a:noFill/>
          </a:ln>
          <a:effectLst>
            <a:outerShdw blurRad="254000" dist="1143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kl4a"/>
          <p:cNvSpPr txBox="1"/>
          <p:nvPr/>
        </p:nvSpPr>
        <p:spPr>
          <a:xfrm>
            <a:off x="952500" y="4889500"/>
            <a:ext cx="54102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gehört zu den</a:t>
            </a:r>
          </a:p>
        </p:txBody>
      </p:sp>
      <p:sp>
        <p:nvSpPr>
          <p:cNvPr id="21" name="!!kl4b"/>
          <p:cNvSpPr txBox="1"/>
          <p:nvPr/>
        </p:nvSpPr>
        <p:spPr>
          <a:xfrm>
            <a:off x="952500" y="5130800"/>
            <a:ext cx="54102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größten Immobilienbesitzern der Schweiz</a:t>
            </a:r>
          </a:p>
        </p:txBody>
      </p:sp>
      <p:pic>
        <p:nvPicPr>
          <p:cNvPr id="22" name="!!karte" descr="europa-gr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635000"/>
            <a:ext cx="5778500" cy="5397500"/>
          </a:xfrm>
          <a:prstGeom prst="rect">
            <a:avLst/>
          </a:prstGeom>
        </p:spPr>
      </p:pic>
      <p:pic>
        <p:nvPicPr>
          <p:cNvPr id="23" name="!!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100" y="-2959100"/>
            <a:ext cx="5384800" cy="53340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 · WIR STELLEN UNS VOR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700" b="0" i="0">
                <a:solidFill>
                  <a:srgbClr val="1C1C1E"/>
                </a:solidFill>
                <a:latin typeface="Georgia"/>
              </a:rPr>
              <a:t>Das Unternehmen Swiss Life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952500" y="16637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1">
                <a:solidFill>
                  <a:srgbClr val="7A7A80"/>
                </a:solidFill>
                <a:latin typeface="Georgia"/>
              </a:rPr>
              <a:t>Finanzkraft und Erfahrung</a:t>
            </a:r>
          </a:p>
        </p:txBody>
      </p:sp>
      <p:sp>
        <p:nvSpPr>
          <p:cNvPr id="7" name="!!kachel0"/>
          <p:cNvSpPr/>
          <p:nvPr/>
        </p:nvSpPr>
        <p:spPr>
          <a:xfrm>
            <a:off x="952500" y="2349500"/>
            <a:ext cx="2654300" cy="1066800"/>
          </a:xfrm>
          <a:prstGeom prst="rect">
            <a:avLst/>
          </a:prstGeom>
          <a:solidFill>
            <a:srgbClr val="D2B07B"/>
          </a:solidFill>
          <a:ln>
            <a:noFill/>
          </a:ln>
          <a:effectLst>
            <a:outerShdw blurRad="254000" dist="1143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kz0"/>
          <p:cNvSpPr txBox="1"/>
          <p:nvPr/>
        </p:nvSpPr>
        <p:spPr>
          <a:xfrm>
            <a:off x="952500" y="2540000"/>
            <a:ext cx="26543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b="0" i="0">
                <a:solidFill>
                  <a:srgbClr val="FFFFFF"/>
                </a:solidFill>
                <a:latin typeface="Georgia"/>
              </a:rPr>
              <a:t>1857</a:t>
            </a:r>
            <a:r>
              <a:rPr sz="1750" b="0" i="0">
                <a:solidFill>
                  <a:srgbClr val="FFFFFF"/>
                </a:solidFill>
                <a:latin typeface="Georgia"/>
              </a:rPr>
              <a:t/>
            </a:r>
          </a:p>
        </p:txBody>
      </p:sp>
      <p:sp>
        <p:nvSpPr>
          <p:cNvPr id="9" name="!!kl0"/>
          <p:cNvSpPr txBox="1"/>
          <p:nvPr/>
        </p:nvSpPr>
        <p:spPr>
          <a:xfrm>
            <a:off x="1079500" y="3022600"/>
            <a:ext cx="2400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gegründet</a:t>
            </a:r>
          </a:p>
        </p:txBody>
      </p:sp>
      <p:sp>
        <p:nvSpPr>
          <p:cNvPr id="10" name="!!kachel1"/>
          <p:cNvSpPr/>
          <p:nvPr/>
        </p:nvSpPr>
        <p:spPr>
          <a:xfrm>
            <a:off x="3708400" y="2349500"/>
            <a:ext cx="2654300" cy="1066800"/>
          </a:xfrm>
          <a:prstGeom prst="rect">
            <a:avLst/>
          </a:prstGeom>
          <a:solidFill>
            <a:srgbClr val="DD7E87"/>
          </a:solidFill>
          <a:ln>
            <a:noFill/>
          </a:ln>
          <a:effectLst>
            <a:outerShdw blurRad="254000" dist="1143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kz1"/>
          <p:cNvSpPr txBox="1"/>
          <p:nvPr/>
        </p:nvSpPr>
        <p:spPr>
          <a:xfrm>
            <a:off x="3708400" y="2540000"/>
            <a:ext cx="26543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b="0" i="0">
                <a:solidFill>
                  <a:srgbClr val="FFFFFF"/>
                </a:solidFill>
                <a:latin typeface="Georgia"/>
              </a:rPr>
              <a:t>10 Mrd. </a:t>
            </a:r>
            <a:r>
              <a:rPr sz="1750" b="0" i="0">
                <a:solidFill>
                  <a:srgbClr val="FFFFFF"/>
                </a:solidFill>
                <a:latin typeface="Georgia"/>
              </a:rPr>
              <a:t>CHF</a:t>
            </a:r>
          </a:p>
        </p:txBody>
      </p:sp>
      <p:sp>
        <p:nvSpPr>
          <p:cNvPr id="12" name="!!kl1"/>
          <p:cNvSpPr txBox="1"/>
          <p:nvPr/>
        </p:nvSpPr>
        <p:spPr>
          <a:xfrm>
            <a:off x="3835400" y="3022600"/>
            <a:ext cx="2400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Eigenkapital der Swiss Life-Gruppe</a:t>
            </a:r>
          </a:p>
        </p:txBody>
      </p:sp>
      <p:sp>
        <p:nvSpPr>
          <p:cNvPr id="13" name="!!kachel2"/>
          <p:cNvSpPr/>
          <p:nvPr/>
        </p:nvSpPr>
        <p:spPr>
          <a:xfrm>
            <a:off x="952500" y="3517900"/>
            <a:ext cx="2654300" cy="1066800"/>
          </a:xfrm>
          <a:prstGeom prst="rect">
            <a:avLst/>
          </a:prstGeom>
          <a:solidFill>
            <a:srgbClr val="8B1C34"/>
          </a:solidFill>
          <a:ln>
            <a:noFill/>
          </a:ln>
          <a:effectLst>
            <a:outerShdw blurRad="254000" dist="1143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kz2"/>
          <p:cNvSpPr txBox="1"/>
          <p:nvPr/>
        </p:nvSpPr>
        <p:spPr>
          <a:xfrm>
            <a:off x="952500" y="3708400"/>
            <a:ext cx="26543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b="0" i="0">
                <a:solidFill>
                  <a:srgbClr val="FFFFFF"/>
                </a:solidFill>
                <a:latin typeface="Georgia"/>
              </a:rPr>
              <a:t>250 Mrd. </a:t>
            </a:r>
            <a:r>
              <a:rPr sz="1750" b="0" i="0">
                <a:solidFill>
                  <a:srgbClr val="FFFFFF"/>
                </a:solidFill>
                <a:latin typeface="Georgia"/>
              </a:rPr>
              <a:t>CHF</a:t>
            </a:r>
          </a:p>
        </p:txBody>
      </p:sp>
      <p:sp>
        <p:nvSpPr>
          <p:cNvPr id="15" name="!!kl2"/>
          <p:cNvSpPr txBox="1"/>
          <p:nvPr/>
        </p:nvSpPr>
        <p:spPr>
          <a:xfrm>
            <a:off x="1079500" y="4191000"/>
            <a:ext cx="2400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verwaltetes Vermögen</a:t>
            </a:r>
          </a:p>
        </p:txBody>
      </p:sp>
      <p:sp>
        <p:nvSpPr>
          <p:cNvPr id="16" name="!!kachel3"/>
          <p:cNvSpPr/>
          <p:nvPr/>
        </p:nvSpPr>
        <p:spPr>
          <a:xfrm>
            <a:off x="3708400" y="3517900"/>
            <a:ext cx="2654300" cy="1066800"/>
          </a:xfrm>
          <a:prstGeom prst="rect">
            <a:avLst/>
          </a:prstGeom>
          <a:solidFill>
            <a:srgbClr val="C4532E"/>
          </a:solidFill>
          <a:ln>
            <a:noFill/>
          </a:ln>
          <a:effectLst>
            <a:outerShdw blurRad="254000" dist="1143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kz3"/>
          <p:cNvSpPr txBox="1"/>
          <p:nvPr/>
        </p:nvSpPr>
        <p:spPr>
          <a:xfrm>
            <a:off x="3708400" y="3708400"/>
            <a:ext cx="26543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b="0" i="0">
                <a:solidFill>
                  <a:srgbClr val="FFFFFF"/>
                </a:solidFill>
                <a:latin typeface="Georgia"/>
              </a:rPr>
              <a:t>4 Mio.</a:t>
            </a:r>
            <a:r>
              <a:rPr sz="1750" b="0" i="0">
                <a:solidFill>
                  <a:srgbClr val="FFFFFF"/>
                </a:solidFill>
                <a:latin typeface="Georgia"/>
              </a:rPr>
              <a:t/>
            </a:r>
          </a:p>
        </p:txBody>
      </p:sp>
      <p:sp>
        <p:nvSpPr>
          <p:cNvPr id="18" name="!!kl3"/>
          <p:cNvSpPr txBox="1"/>
          <p:nvPr/>
        </p:nvSpPr>
        <p:spPr>
          <a:xfrm>
            <a:off x="3835400" y="4191000"/>
            <a:ext cx="2400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Kundinnen und Kunden weltweit</a:t>
            </a:r>
          </a:p>
        </p:txBody>
      </p:sp>
      <p:sp>
        <p:nvSpPr>
          <p:cNvPr id="19" name="!!kachel4"/>
          <p:cNvSpPr/>
          <p:nvPr/>
        </p:nvSpPr>
        <p:spPr>
          <a:xfrm>
            <a:off x="952500" y="4686300"/>
            <a:ext cx="5410200" cy="952500"/>
          </a:xfrm>
          <a:prstGeom prst="rect">
            <a:avLst/>
          </a:prstGeom>
          <a:solidFill>
            <a:srgbClr val="67686C"/>
          </a:solidFill>
          <a:ln>
            <a:noFill/>
          </a:ln>
          <a:effectLst>
            <a:outerShdw blurRad="254000" dist="1143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kl4a"/>
          <p:cNvSpPr txBox="1"/>
          <p:nvPr/>
        </p:nvSpPr>
        <p:spPr>
          <a:xfrm>
            <a:off x="952500" y="4889500"/>
            <a:ext cx="54102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gehört zu den</a:t>
            </a:r>
          </a:p>
        </p:txBody>
      </p:sp>
      <p:sp>
        <p:nvSpPr>
          <p:cNvPr id="21" name="!!kl4b"/>
          <p:cNvSpPr txBox="1"/>
          <p:nvPr/>
        </p:nvSpPr>
        <p:spPr>
          <a:xfrm>
            <a:off x="952500" y="5130800"/>
            <a:ext cx="54102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größten Immobilienbesitzern der Schweiz</a:t>
            </a:r>
          </a:p>
        </p:txBody>
      </p:sp>
      <p:pic>
        <p:nvPicPr>
          <p:cNvPr id="22" name="!!karte" descr="europa-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635000"/>
            <a:ext cx="5778500" cy="5397500"/>
          </a:xfrm>
          <a:prstGeom prst="rect">
            <a:avLst/>
          </a:prstGeom>
        </p:spPr>
      </p:pic>
      <p:pic>
        <p:nvPicPr>
          <p:cNvPr id="23" name="!!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40000">
            <a:off x="-787400" y="4660900"/>
            <a:ext cx="5384800" cy="53340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 · WIR STELLEN UNS VOR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0" i="0">
                <a:solidFill>
                  <a:srgbClr val="1C1C1E"/>
                </a:solidFill>
                <a:latin typeface="Georgia"/>
              </a:rPr>
              <a:t>Eine Premiummarke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952500" y="17780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C1C1E"/>
                </a:solidFill>
                <a:latin typeface="Calibri"/>
              </a:rPr>
              <a:t>Swiss Life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603500"/>
            <a:ext cx="1397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b="0" i="0">
                <a:solidFill>
                  <a:srgbClr val="D82034"/>
                </a:solidFill>
                <a:latin typeface="Georgia"/>
              </a:rPr>
              <a:t>35+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327400"/>
            <a:ext cx="139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3B3B3F"/>
                </a:solidFill>
                <a:latin typeface="Calibri"/>
              </a:rPr>
              <a:t>Jahre Erfahrung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0" y="2603500"/>
            <a:ext cx="2667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b="0" i="0">
                <a:solidFill>
                  <a:srgbClr val="D82034"/>
                </a:solidFill>
                <a:latin typeface="Georgia"/>
              </a:rPr>
              <a:t>1,6 Mio.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3000" y="33274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3B3B3F"/>
                </a:solidFill>
                <a:latin typeface="Calibri"/>
              </a:rPr>
              <a:t>Kunden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500" y="2603500"/>
            <a:ext cx="1651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b="0" i="0">
                <a:solidFill>
                  <a:srgbClr val="D82034"/>
                </a:solidFill>
                <a:latin typeface="Georgia"/>
              </a:rPr>
              <a:t>300+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0" y="3327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3B3B3F"/>
                </a:solidFill>
                <a:latin typeface="Calibri"/>
              </a:rPr>
              <a:t>Standorte</a:t>
            </a:r>
          </a:p>
        </p:txBody>
      </p:sp>
      <p:sp>
        <p:nvSpPr>
          <p:cNvPr id="13" name="Oval 12"/>
          <p:cNvSpPr/>
          <p:nvPr/>
        </p:nvSpPr>
        <p:spPr>
          <a:xfrm>
            <a:off x="952500" y="3937000"/>
            <a:ext cx="292100" cy="2921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icon-check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975100"/>
            <a:ext cx="215900" cy="215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58900" y="39497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0" i="0">
                <a:solidFill>
                  <a:srgbClr val="1C1C1E"/>
                </a:solidFill>
                <a:latin typeface="Calibri"/>
              </a:rPr>
              <a:t>Persönliche Best-Select-Beratung</a:t>
            </a:r>
          </a:p>
        </p:txBody>
      </p:sp>
      <p:sp>
        <p:nvSpPr>
          <p:cNvPr id="16" name="Oval 15"/>
          <p:cNvSpPr/>
          <p:nvPr/>
        </p:nvSpPr>
        <p:spPr>
          <a:xfrm>
            <a:off x="952500" y="4381500"/>
            <a:ext cx="292100" cy="2921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con-check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419600"/>
            <a:ext cx="215900" cy="215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58900" y="43942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0" i="0">
                <a:solidFill>
                  <a:srgbClr val="1C1C1E"/>
                </a:solidFill>
                <a:latin typeface="Calibri"/>
              </a:rPr>
              <a:t>Partner in allen Finanzfragen</a:t>
            </a:r>
          </a:p>
        </p:txBody>
      </p:sp>
      <p:pic>
        <p:nvPicPr>
          <p:cNvPr id="19" name="!!karte" descr="deutschl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8000"/>
            <a:ext cx="4381500" cy="5842000"/>
          </a:xfrm>
          <a:prstGeom prst="rect">
            <a:avLst/>
          </a:prstGeom>
        </p:spPr>
      </p:pic>
      <p:pic>
        <p:nvPicPr>
          <p:cNvPr id="20" name="!!logo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9641840" y="-1871980"/>
            <a:ext cx="4846320" cy="48006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 · WIR STELLEN UNS VOR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500" b="0" i="0">
                <a:solidFill>
                  <a:srgbClr val="1C1C1E"/>
                </a:solidFill>
                <a:latin typeface="Georgia"/>
              </a:rPr>
              <a:t>Institute oder Vergleichsportale?</a:t>
            </a:r>
          </a:p>
        </p:txBody>
      </p:sp>
      <p:sp>
        <p:nvSpPr>
          <p:cNvPr id="6" name="!!kreisA"/>
          <p:cNvSpPr/>
          <p:nvPr/>
        </p:nvSpPr>
        <p:spPr>
          <a:xfrm>
            <a:off x="1968500" y="2032000"/>
            <a:ext cx="3810000" cy="3810000"/>
          </a:xfrm>
          <a:prstGeom prst="ellipse">
            <a:avLst/>
          </a:prstGeom>
          <a:noFill/>
          <a:ln w="1651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kreisB"/>
          <p:cNvSpPr/>
          <p:nvPr/>
        </p:nvSpPr>
        <p:spPr>
          <a:xfrm>
            <a:off x="6413500" y="2032000"/>
            <a:ext cx="3810000" cy="3810000"/>
          </a:xfrm>
          <a:prstGeom prst="ellipse">
            <a:avLst/>
          </a:prstGeom>
          <a:noFill/>
          <a:ln w="1651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labA"/>
          <p:cNvSpPr txBox="1"/>
          <p:nvPr/>
        </p:nvSpPr>
        <p:spPr>
          <a:xfrm>
            <a:off x="1968500" y="16637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1C1C1E"/>
                </a:solidFill>
                <a:latin typeface="Calibri"/>
              </a:rPr>
              <a:t>Institute</a:t>
            </a:r>
          </a:p>
        </p:txBody>
      </p:sp>
      <p:sp>
        <p:nvSpPr>
          <p:cNvPr id="9" name="!!labB"/>
          <p:cNvSpPr txBox="1"/>
          <p:nvPr/>
        </p:nvSpPr>
        <p:spPr>
          <a:xfrm>
            <a:off x="6413500" y="16637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1C1C1E"/>
                </a:solidFill>
                <a:latin typeface="Calibri"/>
              </a:rPr>
              <a:t>Vergleichsportale</a:t>
            </a:r>
          </a:p>
        </p:txBody>
      </p:sp>
      <p:pic>
        <p:nvPicPr>
          <p:cNvPr id="10" name="!!viA1" descr="icon-pin-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806700"/>
            <a:ext cx="355600" cy="355600"/>
          </a:xfrm>
          <a:prstGeom prst="rect">
            <a:avLst/>
          </a:prstGeom>
        </p:spPr>
      </p:pic>
      <p:sp>
        <p:nvSpPr>
          <p:cNvPr id="11" name="!!vtA1"/>
          <p:cNvSpPr txBox="1"/>
          <p:nvPr/>
        </p:nvSpPr>
        <p:spPr>
          <a:xfrm>
            <a:off x="3225800" y="273050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1C1C1E"/>
                </a:solidFill>
                <a:latin typeface="Calibri"/>
              </a:rPr>
              <a:t>persönliche Beratung</a:t>
            </a:r>
          </a:p>
        </p:txBody>
      </p:sp>
      <p:pic>
        <p:nvPicPr>
          <p:cNvPr id="12" name="!!viA2" descr="icon-advisor-r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568700"/>
            <a:ext cx="355600" cy="355600"/>
          </a:xfrm>
          <a:prstGeom prst="rect">
            <a:avLst/>
          </a:prstGeom>
        </p:spPr>
      </p:pic>
      <p:sp>
        <p:nvSpPr>
          <p:cNvPr id="13" name="!!vtA2"/>
          <p:cNvSpPr txBox="1"/>
          <p:nvPr/>
        </p:nvSpPr>
        <p:spPr>
          <a:xfrm>
            <a:off x="3225800" y="349250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1C1C1E"/>
                </a:solidFill>
                <a:latin typeface="Calibri"/>
              </a:rPr>
              <a:t>Service &amp; dauerhafte Betreuung</a:t>
            </a:r>
          </a:p>
        </p:txBody>
      </p:sp>
      <p:pic>
        <p:nvPicPr>
          <p:cNvPr id="14" name="!!viB1" descr="icon-doc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200" y="2692400"/>
            <a:ext cx="355600" cy="355600"/>
          </a:xfrm>
          <a:prstGeom prst="rect">
            <a:avLst/>
          </a:prstGeom>
        </p:spPr>
      </p:pic>
      <p:sp>
        <p:nvSpPr>
          <p:cNvPr id="15" name="!!vtB1"/>
          <p:cNvSpPr txBox="1"/>
          <p:nvPr/>
        </p:nvSpPr>
        <p:spPr>
          <a:xfrm>
            <a:off x="7670800" y="261620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1C1C1E"/>
                </a:solidFill>
                <a:latin typeface="Calibri"/>
              </a:rPr>
              <a:t>große Produktpalette mit hohem Digitalisierungsgrad</a:t>
            </a:r>
          </a:p>
        </p:txBody>
      </p:sp>
      <p:pic>
        <p:nvPicPr>
          <p:cNvPr id="16" name="!!logo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9641840" y="-1871980"/>
            <a:ext cx="4846320" cy="48006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 · WIR STELLEN UNS VOR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500" b="0" i="0">
                <a:solidFill>
                  <a:srgbClr val="1C1C1E"/>
                </a:solidFill>
                <a:latin typeface="Georgia"/>
              </a:rPr>
              <a:t>Institute oder Vergleichsportale?</a:t>
            </a:r>
          </a:p>
        </p:txBody>
      </p:sp>
      <p:sp>
        <p:nvSpPr>
          <p:cNvPr id="6" name="!!kreisA"/>
          <p:cNvSpPr/>
          <p:nvPr/>
        </p:nvSpPr>
        <p:spPr>
          <a:xfrm>
            <a:off x="1968500" y="2032000"/>
            <a:ext cx="3810000" cy="3810000"/>
          </a:xfrm>
          <a:prstGeom prst="ellipse">
            <a:avLst/>
          </a:prstGeom>
          <a:noFill/>
          <a:ln w="1651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kreisB"/>
          <p:cNvSpPr/>
          <p:nvPr/>
        </p:nvSpPr>
        <p:spPr>
          <a:xfrm>
            <a:off x="6413500" y="2032000"/>
            <a:ext cx="3810000" cy="3810000"/>
          </a:xfrm>
          <a:prstGeom prst="ellipse">
            <a:avLst/>
          </a:prstGeom>
          <a:noFill/>
          <a:ln w="1651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labA"/>
          <p:cNvSpPr txBox="1"/>
          <p:nvPr/>
        </p:nvSpPr>
        <p:spPr>
          <a:xfrm>
            <a:off x="1968500" y="16637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1C1C1E"/>
                </a:solidFill>
                <a:latin typeface="Calibri"/>
              </a:rPr>
              <a:t>Institute</a:t>
            </a:r>
          </a:p>
        </p:txBody>
      </p:sp>
      <p:sp>
        <p:nvSpPr>
          <p:cNvPr id="9" name="!!labB"/>
          <p:cNvSpPr txBox="1"/>
          <p:nvPr/>
        </p:nvSpPr>
        <p:spPr>
          <a:xfrm>
            <a:off x="6413500" y="16637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1C1C1E"/>
                </a:solidFill>
                <a:latin typeface="Calibri"/>
              </a:rPr>
              <a:t>Vergleichsportale</a:t>
            </a:r>
          </a:p>
        </p:txBody>
      </p:sp>
      <p:pic>
        <p:nvPicPr>
          <p:cNvPr id="10" name="!!viA1" descr="icon-pin-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806700"/>
            <a:ext cx="355600" cy="355600"/>
          </a:xfrm>
          <a:prstGeom prst="rect">
            <a:avLst/>
          </a:prstGeom>
        </p:spPr>
      </p:pic>
      <p:sp>
        <p:nvSpPr>
          <p:cNvPr id="11" name="!!vtA1"/>
          <p:cNvSpPr txBox="1"/>
          <p:nvPr/>
        </p:nvSpPr>
        <p:spPr>
          <a:xfrm>
            <a:off x="3225800" y="273050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1C1C1E"/>
                </a:solidFill>
                <a:latin typeface="Calibri"/>
              </a:rPr>
              <a:t>persönliche Beratung</a:t>
            </a:r>
          </a:p>
        </p:txBody>
      </p:sp>
      <p:pic>
        <p:nvPicPr>
          <p:cNvPr id="12" name="!!viA2" descr="icon-advisor-r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568700"/>
            <a:ext cx="355600" cy="355600"/>
          </a:xfrm>
          <a:prstGeom prst="rect">
            <a:avLst/>
          </a:prstGeom>
        </p:spPr>
      </p:pic>
      <p:sp>
        <p:nvSpPr>
          <p:cNvPr id="13" name="!!vtA2"/>
          <p:cNvSpPr txBox="1"/>
          <p:nvPr/>
        </p:nvSpPr>
        <p:spPr>
          <a:xfrm>
            <a:off x="3225800" y="349250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1C1C1E"/>
                </a:solidFill>
                <a:latin typeface="Calibri"/>
              </a:rPr>
              <a:t>Service &amp; dauerhafte Betreuung</a:t>
            </a:r>
          </a:p>
        </p:txBody>
      </p:sp>
      <p:pic>
        <p:nvPicPr>
          <p:cNvPr id="14" name="!!viA3" descr="icon-x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4298950"/>
            <a:ext cx="355600" cy="355600"/>
          </a:xfrm>
          <a:prstGeom prst="rect">
            <a:avLst/>
          </a:prstGeom>
        </p:spPr>
      </p:pic>
      <p:sp>
        <p:nvSpPr>
          <p:cNvPr id="15" name="!!vtA3"/>
          <p:cNvSpPr txBox="1"/>
          <p:nvPr/>
        </p:nvSpPr>
        <p:spPr>
          <a:xfrm>
            <a:off x="3225800" y="422275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1C1C1E"/>
                </a:solidFill>
                <a:latin typeface="Calibri"/>
              </a:rPr>
              <a:t>begrenzte Produktpalette</a:t>
            </a:r>
          </a:p>
        </p:txBody>
      </p:sp>
      <p:pic>
        <p:nvPicPr>
          <p:cNvPr id="16" name="!!viB1" descr="icon-doc-r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8200" y="2692400"/>
            <a:ext cx="355600" cy="355600"/>
          </a:xfrm>
          <a:prstGeom prst="rect">
            <a:avLst/>
          </a:prstGeom>
        </p:spPr>
      </p:pic>
      <p:sp>
        <p:nvSpPr>
          <p:cNvPr id="17" name="!!vtB1"/>
          <p:cNvSpPr txBox="1"/>
          <p:nvPr/>
        </p:nvSpPr>
        <p:spPr>
          <a:xfrm>
            <a:off x="7670800" y="261620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1C1C1E"/>
                </a:solidFill>
                <a:latin typeface="Calibri"/>
              </a:rPr>
              <a:t>große Produktpalette mit hohem Digitalisierungsgrad</a:t>
            </a:r>
          </a:p>
        </p:txBody>
      </p:sp>
      <p:pic>
        <p:nvPicPr>
          <p:cNvPr id="18" name="!!viB2" descr="icon-x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200" y="3568700"/>
            <a:ext cx="355600" cy="355600"/>
          </a:xfrm>
          <a:prstGeom prst="rect">
            <a:avLst/>
          </a:prstGeom>
        </p:spPr>
      </p:pic>
      <p:sp>
        <p:nvSpPr>
          <p:cNvPr id="19" name="!!vtB2"/>
          <p:cNvSpPr txBox="1"/>
          <p:nvPr/>
        </p:nvSpPr>
        <p:spPr>
          <a:xfrm>
            <a:off x="7670800" y="349250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1C1C1E"/>
                </a:solidFill>
                <a:latin typeface="Calibri"/>
              </a:rPr>
              <a:t>kein Service &amp; dauerhafte Betreuung</a:t>
            </a:r>
          </a:p>
        </p:txBody>
      </p:sp>
      <p:pic>
        <p:nvPicPr>
          <p:cNvPr id="20" name="!!viB3" descr="icon-x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200" y="4298950"/>
            <a:ext cx="355600" cy="355600"/>
          </a:xfrm>
          <a:prstGeom prst="rect">
            <a:avLst/>
          </a:prstGeom>
        </p:spPr>
      </p:pic>
      <p:sp>
        <p:nvSpPr>
          <p:cNvPr id="21" name="!!vtB3"/>
          <p:cNvSpPr txBox="1"/>
          <p:nvPr/>
        </p:nvSpPr>
        <p:spPr>
          <a:xfrm>
            <a:off x="7670800" y="422275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1C1C1E"/>
                </a:solidFill>
                <a:latin typeface="Calibri"/>
              </a:rPr>
              <a:t>keine persönliche Beratung</a:t>
            </a:r>
          </a:p>
        </p:txBody>
      </p:sp>
      <p:pic>
        <p:nvPicPr>
          <p:cNvPr id="22" name="!!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9641840" y="-1871980"/>
            <a:ext cx="4846320" cy="48006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 · WIR STELLEN UNS VOR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500" b="0" i="0">
                <a:solidFill>
                  <a:srgbClr val="1C1C1E"/>
                </a:solidFill>
                <a:latin typeface="Georgia"/>
              </a:rPr>
              <a:t>Swiss Life Select – das Beste aus beiden Welten</a:t>
            </a:r>
          </a:p>
        </p:txBody>
      </p:sp>
      <p:sp>
        <p:nvSpPr>
          <p:cNvPr id="6" name="!!kreisA"/>
          <p:cNvSpPr/>
          <p:nvPr/>
        </p:nvSpPr>
        <p:spPr>
          <a:xfrm>
            <a:off x="2540000" y="1841500"/>
            <a:ext cx="7112000" cy="4191000"/>
          </a:xfrm>
          <a:prstGeom prst="ellipse">
            <a:avLst/>
          </a:prstGeom>
          <a:solidFill>
            <a:srgbClr val="D82034"/>
          </a:solidFill>
          <a:ln>
            <a:noFill/>
          </a:ln>
          <a:effectLst>
            <a:outerShdw blurRad="381000" dist="165100" dir="5400000" algn="t" rotWithShape="0">
              <a:srgbClr val="8B1C34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kreisB"/>
          <p:cNvSpPr/>
          <p:nvPr/>
        </p:nvSpPr>
        <p:spPr>
          <a:xfrm>
            <a:off x="2540000" y="1841500"/>
            <a:ext cx="7112000" cy="4191000"/>
          </a:xfrm>
          <a:prstGeom prst="ellipse">
            <a:avLst/>
          </a:prstGeom>
          <a:solidFill>
            <a:srgbClr val="D82034"/>
          </a:solidFill>
          <a:ln>
            <a:noFill/>
          </a:ln>
          <a:effectLst>
            <a:outerShdw blurRad="381000" dist="165100" dir="5400000" algn="t" rotWithShape="0">
              <a:srgbClr val="8B1C34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Band" descr="band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2044700"/>
            <a:ext cx="635000" cy="629179"/>
          </a:xfrm>
          <a:prstGeom prst="rect">
            <a:avLst/>
          </a:prstGeom>
        </p:spPr>
      </p:pic>
      <p:pic>
        <p:nvPicPr>
          <p:cNvPr id="9" name="!!viA1" descr="icon-pin-we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997200"/>
            <a:ext cx="355600" cy="355600"/>
          </a:xfrm>
          <a:prstGeom prst="rect">
            <a:avLst/>
          </a:prstGeom>
        </p:spPr>
      </p:pic>
      <p:sp>
        <p:nvSpPr>
          <p:cNvPr id="10" name="!!vtA1"/>
          <p:cNvSpPr txBox="1"/>
          <p:nvPr/>
        </p:nvSpPr>
        <p:spPr>
          <a:xfrm>
            <a:off x="3911600" y="292100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persönliche Beratung</a:t>
            </a:r>
          </a:p>
        </p:txBody>
      </p:sp>
      <p:pic>
        <p:nvPicPr>
          <p:cNvPr id="11" name="!!viA2" descr="icon-advisor-wei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00" y="2997200"/>
            <a:ext cx="355600" cy="355600"/>
          </a:xfrm>
          <a:prstGeom prst="rect">
            <a:avLst/>
          </a:prstGeom>
        </p:spPr>
      </p:pic>
      <p:sp>
        <p:nvSpPr>
          <p:cNvPr id="12" name="!!vtA2"/>
          <p:cNvSpPr txBox="1"/>
          <p:nvPr/>
        </p:nvSpPr>
        <p:spPr>
          <a:xfrm>
            <a:off x="7023100" y="292100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Service &amp; dauerhafte Betreuung</a:t>
            </a:r>
          </a:p>
        </p:txBody>
      </p:sp>
      <p:pic>
        <p:nvPicPr>
          <p:cNvPr id="13" name="!!viB1" descr="icon-doc-wei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0" y="4013200"/>
            <a:ext cx="355600" cy="355600"/>
          </a:xfrm>
          <a:prstGeom prst="rect">
            <a:avLst/>
          </a:prstGeom>
        </p:spPr>
      </p:pic>
      <p:sp>
        <p:nvSpPr>
          <p:cNvPr id="14" name="!!vtB1"/>
          <p:cNvSpPr txBox="1"/>
          <p:nvPr/>
        </p:nvSpPr>
        <p:spPr>
          <a:xfrm>
            <a:off x="5435600" y="3937000"/>
            <a:ext cx="23114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große Produktpalette mit hohem Digitalisierungsgrad</a:t>
            </a:r>
          </a:p>
        </p:txBody>
      </p:sp>
      <p:pic>
        <p:nvPicPr>
          <p:cNvPr id="15" name="!!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-1104900" y="3708400"/>
            <a:ext cx="5384800" cy="53340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 · WIR STELLEN UNS VOR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406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0" i="0">
                <a:solidFill>
                  <a:srgbClr val="1C1C1E"/>
                </a:solidFill>
                <a:latin typeface="Georgia"/>
              </a:rPr>
              <a:t>Finanzierungen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1841500"/>
            <a:ext cx="3810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B3B3F"/>
                </a:solidFill>
                <a:latin typeface="Calibri"/>
              </a:rPr>
              <a:t>Wir vergleichen für euch die Angebote führender Banken und Förderinstitute – und finden die Finanzierung, die wirklich passt.</a:t>
            </a:r>
          </a:p>
        </p:txBody>
      </p:sp>
      <p:sp>
        <p:nvSpPr>
          <p:cNvPr id="7" name="Video"/>
          <p:cNvSpPr/>
          <p:nvPr/>
        </p:nvSpPr>
        <p:spPr>
          <a:xfrm>
            <a:off x="952500" y="2984500"/>
            <a:ext cx="1841500" cy="393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635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54100" y="3073400"/>
            <a:ext cx="215900" cy="2159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58900" y="3073400"/>
            <a:ext cx="13970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C1C1E"/>
                </a:solidFill>
                <a:latin typeface="Calibri"/>
                <a:hlinkClick r:id="rId3"/>
              </a:rPr>
              <a:t>Erklärvideo ansehen</a:t>
            </a:r>
          </a:p>
        </p:txBody>
      </p:sp>
      <p:sp>
        <p:nvSpPr>
          <p:cNvPr id="10" name="Bank NRW.BANK"/>
          <p:cNvSpPr/>
          <p:nvPr/>
        </p:nvSpPr>
        <p:spPr>
          <a:xfrm>
            <a:off x="6985000" y="635000"/>
            <a:ext cx="1468120" cy="469900"/>
          </a:xfrm>
          <a:prstGeom prst="roundRect">
            <a:avLst>
              <a:gd name="adj" fmla="val 24324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137400" y="774700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42200" y="635000"/>
            <a:ext cx="1010920" cy="469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1F2430"/>
                </a:solidFill>
                <a:latin typeface="Calibri"/>
              </a:rPr>
              <a:t>NRW.BANK</a:t>
            </a:r>
          </a:p>
        </p:txBody>
      </p:sp>
      <p:sp>
        <p:nvSpPr>
          <p:cNvPr id="13" name="Bank ING"/>
          <p:cNvSpPr/>
          <p:nvPr/>
        </p:nvSpPr>
        <p:spPr>
          <a:xfrm>
            <a:off x="9779000" y="952500"/>
            <a:ext cx="1069308" cy="536575"/>
          </a:xfrm>
          <a:prstGeom prst="roundRect">
            <a:avLst>
              <a:gd name="adj" fmla="val 21301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931400" y="1125538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36200" y="952500"/>
            <a:ext cx="612108" cy="5365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25" b="1" i="0">
                <a:solidFill>
                  <a:srgbClr val="1F2430"/>
                </a:solidFill>
                <a:latin typeface="Calibri"/>
              </a:rPr>
              <a:t>ING</a:t>
            </a:r>
          </a:p>
        </p:txBody>
      </p:sp>
      <p:sp>
        <p:nvSpPr>
          <p:cNvPr id="16" name="Bank Commerzbank"/>
          <p:cNvSpPr/>
          <p:nvPr/>
        </p:nvSpPr>
        <p:spPr>
          <a:xfrm>
            <a:off x="5207000" y="1524000"/>
            <a:ext cx="1993138" cy="50800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359400" y="1682750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4200" y="1524000"/>
            <a:ext cx="1535938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1F2430"/>
                </a:solidFill>
                <a:latin typeface="Calibri"/>
              </a:rPr>
              <a:t>Commerzbank</a:t>
            </a:r>
          </a:p>
        </p:txBody>
      </p:sp>
      <p:sp>
        <p:nvSpPr>
          <p:cNvPr id="19" name="Bank Deutsche Bank"/>
          <p:cNvSpPr/>
          <p:nvPr/>
        </p:nvSpPr>
        <p:spPr>
          <a:xfrm>
            <a:off x="8382000" y="1905000"/>
            <a:ext cx="2169827" cy="498475"/>
          </a:xfrm>
          <a:prstGeom prst="roundRect">
            <a:avLst>
              <a:gd name="adj" fmla="val 22929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534400" y="2058988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001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39200" y="1905000"/>
            <a:ext cx="1712627" cy="4984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25" b="1" i="0">
                <a:solidFill>
                  <a:srgbClr val="1F2430"/>
                </a:solidFill>
                <a:latin typeface="Calibri"/>
              </a:rPr>
              <a:t>Deutsche Bank</a:t>
            </a:r>
          </a:p>
        </p:txBody>
      </p:sp>
      <p:sp>
        <p:nvSpPr>
          <p:cNvPr id="22" name="Bank Sparkasse"/>
          <p:cNvSpPr/>
          <p:nvPr/>
        </p:nvSpPr>
        <p:spPr>
          <a:xfrm>
            <a:off x="5969000" y="2667000"/>
            <a:ext cx="1977993" cy="555625"/>
          </a:xfrm>
          <a:prstGeom prst="roundRect">
            <a:avLst>
              <a:gd name="adj" fmla="val 20571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121400" y="2849562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6200" y="2667000"/>
            <a:ext cx="1520793" cy="5556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75" b="1" i="0">
                <a:solidFill>
                  <a:srgbClr val="1F2430"/>
                </a:solidFill>
                <a:latin typeface="Calibri"/>
              </a:rPr>
              <a:t>Sparkasse</a:t>
            </a:r>
          </a:p>
        </p:txBody>
      </p:sp>
      <p:sp>
        <p:nvSpPr>
          <p:cNvPr id="25" name="Bank Hanseatic Bank"/>
          <p:cNvSpPr/>
          <p:nvPr/>
        </p:nvSpPr>
        <p:spPr>
          <a:xfrm>
            <a:off x="9144000" y="2984500"/>
            <a:ext cx="2073910" cy="469900"/>
          </a:xfrm>
          <a:prstGeom prst="roundRect">
            <a:avLst>
              <a:gd name="adj" fmla="val 24324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296400" y="3124200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0" y="2984500"/>
            <a:ext cx="1616710" cy="469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1F2430"/>
                </a:solidFill>
                <a:latin typeface="Calibri"/>
              </a:rPr>
              <a:t>Hanseatic Bank</a:t>
            </a:r>
          </a:p>
        </p:txBody>
      </p:sp>
      <p:sp>
        <p:nvSpPr>
          <p:cNvPr id="28" name="Bank Volksbanken Raiffeisenbanken"/>
          <p:cNvSpPr/>
          <p:nvPr/>
        </p:nvSpPr>
        <p:spPr>
          <a:xfrm>
            <a:off x="5334000" y="3746500"/>
            <a:ext cx="3346069" cy="460375"/>
          </a:xfrm>
          <a:prstGeom prst="roundRect">
            <a:avLst>
              <a:gd name="adj" fmla="val 24827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486400" y="3881438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791200" y="3746500"/>
            <a:ext cx="2888869" cy="4603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25" b="1" i="0">
                <a:solidFill>
                  <a:srgbClr val="1F2430"/>
                </a:solidFill>
                <a:latin typeface="Calibri"/>
              </a:rPr>
              <a:t>Volksbanken Raiffeisenbanken</a:t>
            </a:r>
          </a:p>
        </p:txBody>
      </p:sp>
      <p:sp>
        <p:nvSpPr>
          <p:cNvPr id="31" name="Bank Santander"/>
          <p:cNvSpPr/>
          <p:nvPr/>
        </p:nvSpPr>
        <p:spPr>
          <a:xfrm>
            <a:off x="8890000" y="4000500"/>
            <a:ext cx="1796256" cy="517525"/>
          </a:xfrm>
          <a:prstGeom prst="roundRect">
            <a:avLst>
              <a:gd name="adj" fmla="val 22085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9042400" y="4164012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47200" y="4000500"/>
            <a:ext cx="1339056" cy="5175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75" b="1" i="0">
                <a:solidFill>
                  <a:srgbClr val="1F2430"/>
                </a:solidFill>
                <a:latin typeface="Calibri"/>
              </a:rPr>
              <a:t>Santander</a:t>
            </a:r>
          </a:p>
        </p:txBody>
      </p:sp>
      <p:sp>
        <p:nvSpPr>
          <p:cNvPr id="34" name="Bank Postbank"/>
          <p:cNvSpPr/>
          <p:nvPr/>
        </p:nvSpPr>
        <p:spPr>
          <a:xfrm>
            <a:off x="6540500" y="4699000"/>
            <a:ext cx="1710436" cy="527050"/>
          </a:xfrm>
          <a:prstGeom prst="roundRect">
            <a:avLst>
              <a:gd name="adj" fmla="val 21686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692900" y="4867275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997700" y="4699000"/>
            <a:ext cx="1253236" cy="527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50" b="1" i="0">
                <a:solidFill>
                  <a:srgbClr val="1F2430"/>
                </a:solidFill>
                <a:latin typeface="Calibri"/>
              </a:rPr>
              <a:t>Postbank</a:t>
            </a:r>
          </a:p>
        </p:txBody>
      </p:sp>
      <p:sp>
        <p:nvSpPr>
          <p:cNvPr id="37" name="Bank DSL Bank"/>
          <p:cNvSpPr/>
          <p:nvPr/>
        </p:nvSpPr>
        <p:spPr>
          <a:xfrm>
            <a:off x="9525000" y="5016500"/>
            <a:ext cx="1508506" cy="479425"/>
          </a:xfrm>
          <a:prstGeom prst="roundRect">
            <a:avLst>
              <a:gd name="adj" fmla="val 23841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9677400" y="5160962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982200" y="5016500"/>
            <a:ext cx="1051306" cy="4794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75" b="1" i="0">
                <a:solidFill>
                  <a:srgbClr val="1F2430"/>
                </a:solidFill>
                <a:latin typeface="Calibri"/>
              </a:rPr>
              <a:t>DSL Bank</a:t>
            </a:r>
          </a:p>
        </p:txBody>
      </p:sp>
      <p:sp>
        <p:nvSpPr>
          <p:cNvPr id="40" name="Bank PSD Bank"/>
          <p:cNvSpPr/>
          <p:nvPr/>
        </p:nvSpPr>
        <p:spPr>
          <a:xfrm>
            <a:off x="5207000" y="5588000"/>
            <a:ext cx="1508506" cy="479425"/>
          </a:xfrm>
          <a:prstGeom prst="roundRect">
            <a:avLst>
              <a:gd name="adj" fmla="val 23841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5359400" y="5732462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64200" y="5588000"/>
            <a:ext cx="1051306" cy="4794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75" b="1" i="0">
                <a:solidFill>
                  <a:srgbClr val="1F2430"/>
                </a:solidFill>
                <a:latin typeface="Calibri"/>
              </a:rPr>
              <a:t>PSD Bank</a:t>
            </a:r>
          </a:p>
        </p:txBody>
      </p:sp>
      <p:sp>
        <p:nvSpPr>
          <p:cNvPr id="43" name="Bank KfW"/>
          <p:cNvSpPr/>
          <p:nvPr/>
        </p:nvSpPr>
        <p:spPr>
          <a:xfrm>
            <a:off x="7810500" y="5651500"/>
            <a:ext cx="1054164" cy="527050"/>
          </a:xfrm>
          <a:prstGeom prst="roundRect">
            <a:avLst>
              <a:gd name="adj" fmla="val 21686"/>
            </a:avLst>
          </a:prstGeom>
          <a:solidFill>
            <a:srgbClr val="FFFFFF"/>
          </a:solidFill>
          <a:ln>
            <a:noFill/>
          </a:ln>
          <a:effectLst>
            <a:outerShdw blurRad="317500" dist="152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7962900" y="5819775"/>
            <a:ext cx="190500" cy="190500"/>
          </a:xfrm>
          <a:prstGeom prst="roundRect">
            <a:avLst>
              <a:gd name="adj" fmla="val 26666"/>
            </a:avLst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267700" y="5651500"/>
            <a:ext cx="596964" cy="527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50" b="1" i="0">
                <a:solidFill>
                  <a:srgbClr val="1F2430"/>
                </a:solidFill>
                <a:latin typeface="Calibri"/>
              </a:rPr>
              <a:t>KfW</a:t>
            </a:r>
          </a:p>
        </p:txBody>
      </p:sp>
      <p:pic>
        <p:nvPicPr>
          <p:cNvPr id="46" name="!!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-1422400" y="4025900"/>
            <a:ext cx="5384800" cy="53340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 · WIR STELLEN UNS VOR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4826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0" i="0">
                <a:solidFill>
                  <a:srgbClr val="1C1C1E"/>
                </a:solidFill>
                <a:latin typeface="Georgia"/>
              </a:rPr>
              <a:t>Best-Select-System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1841500"/>
            <a:ext cx="4064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C1C1E"/>
                </a:solidFill>
                <a:latin typeface="Calibri"/>
              </a:rPr>
              <a:t>Ein Ansprechpartner – rund 90 Produktpartner.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B3B3F"/>
                </a:solidFill>
                <a:latin typeface="Calibri"/>
              </a:rPr>
              <a:t>Aus Versicherungen, Banken, Bausparkassen und Investmenthäusern wählen wir für euch die beste Lösung aus.</a:t>
            </a:r>
          </a:p>
        </p:txBody>
      </p:sp>
      <p:sp>
        <p:nvSpPr>
          <p:cNvPr id="7" name="Video"/>
          <p:cNvSpPr/>
          <p:nvPr/>
        </p:nvSpPr>
        <p:spPr>
          <a:xfrm>
            <a:off x="952500" y="3238500"/>
            <a:ext cx="1841500" cy="393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635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54100" y="3327400"/>
            <a:ext cx="215900" cy="2159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58900" y="3327400"/>
            <a:ext cx="13970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C1C1E"/>
                </a:solidFill>
                <a:latin typeface="Calibri"/>
                <a:hlinkClick r:id="rId3"/>
              </a:rPr>
              <a:t>Erklärvideo ansehen</a:t>
            </a:r>
          </a:p>
        </p:txBody>
      </p:sp>
      <p:pic>
        <p:nvPicPr>
          <p:cNvPr id="10" name="!!grafik" descr="kug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81000"/>
            <a:ext cx="6096000" cy="6096000"/>
          </a:xfrm>
          <a:prstGeom prst="rect">
            <a:avLst/>
          </a:prstGeom>
        </p:spPr>
      </p:pic>
      <p:pic>
        <p:nvPicPr>
          <p:cNvPr id="11" name="!!logo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-1907540" y="4615180"/>
            <a:ext cx="4577080" cy="45339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 · WIR STELLEN UNS VOR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0" i="0">
                <a:solidFill>
                  <a:srgbClr val="1C1C1E"/>
                </a:solidFill>
                <a:latin typeface="Georgia"/>
              </a:rPr>
              <a:t>Alles aus einer Hand</a:t>
            </a:r>
          </a:p>
        </p:txBody>
      </p:sp>
      <p:pic>
        <p:nvPicPr>
          <p:cNvPr id="6" name="!!grafik" descr="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206500"/>
            <a:ext cx="10287000" cy="5461000"/>
          </a:xfrm>
          <a:prstGeom prst="rect">
            <a:avLst/>
          </a:prstGeom>
        </p:spPr>
      </p:pic>
      <p:pic>
        <p:nvPicPr>
          <p:cNvPr id="7" name="!!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9507220" y="-2129790"/>
            <a:ext cx="5115560" cy="50673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II · EURE VEREINSSTRUKTUR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b="0" i="0">
                <a:solidFill>
                  <a:srgbClr val="1C1C1E"/>
                </a:solidFill>
                <a:latin typeface="Georgia"/>
              </a:rPr>
              <a:t>Und jetzt ihr? Wie ist euer Verein aufgestellt?</a:t>
            </a:r>
          </a:p>
        </p:txBody>
      </p:sp>
      <p:sp>
        <p:nvSpPr>
          <p:cNvPr id="6" name="Frage I"/>
          <p:cNvSpPr/>
          <p:nvPr/>
        </p:nvSpPr>
        <p:spPr>
          <a:xfrm>
            <a:off x="952500" y="2019300"/>
            <a:ext cx="5029200" cy="11176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55700" y="21844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D82034"/>
                </a:solidFill>
                <a:latin typeface="Georgia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7200" y="2184400"/>
            <a:ext cx="406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 i="0">
                <a:solidFill>
                  <a:srgbClr val="1C1C1E"/>
                </a:solidFill>
                <a:latin typeface="Calibri"/>
              </a:rPr>
              <a:t>Wie viele Mitglieder?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0" y="2971800"/>
            <a:ext cx="4064000" cy="9525"/>
          </a:xfrm>
          <a:prstGeom prst="rect">
            <a:avLst/>
          </a:prstGeom>
          <a:solidFill>
            <a:srgbClr val="CFC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rage II"/>
          <p:cNvSpPr/>
          <p:nvPr/>
        </p:nvSpPr>
        <p:spPr>
          <a:xfrm>
            <a:off x="952500" y="3263900"/>
            <a:ext cx="5029200" cy="11176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55700" y="34290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D82034"/>
                </a:solidFill>
                <a:latin typeface="Georgi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7200" y="3429000"/>
            <a:ext cx="406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 i="0">
                <a:solidFill>
                  <a:srgbClr val="1C1C1E"/>
                </a:solidFill>
                <a:latin typeface="Calibri"/>
              </a:rPr>
              <a:t>Wie viele Mannschaften?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0" y="4216400"/>
            <a:ext cx="4064000" cy="9525"/>
          </a:xfrm>
          <a:prstGeom prst="rect">
            <a:avLst/>
          </a:prstGeom>
          <a:solidFill>
            <a:srgbClr val="CFC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rage III"/>
          <p:cNvSpPr/>
          <p:nvPr/>
        </p:nvSpPr>
        <p:spPr>
          <a:xfrm>
            <a:off x="952500" y="4508500"/>
            <a:ext cx="5029200" cy="11176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55700" y="46736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D82034"/>
                </a:solidFill>
                <a:latin typeface="Georgia"/>
              </a:rPr>
              <a:t>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7200" y="4673600"/>
            <a:ext cx="406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 i="0">
                <a:solidFill>
                  <a:srgbClr val="1C1C1E"/>
                </a:solidFill>
                <a:latin typeface="Calibri"/>
              </a:rPr>
              <a:t>Wie ist der Altersdurchschnitt?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0" y="5461000"/>
            <a:ext cx="4064000" cy="9525"/>
          </a:xfrm>
          <a:prstGeom prst="rect">
            <a:avLst/>
          </a:prstGeom>
          <a:solidFill>
            <a:srgbClr val="CFC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rage IV"/>
          <p:cNvSpPr/>
          <p:nvPr/>
        </p:nvSpPr>
        <p:spPr>
          <a:xfrm>
            <a:off x="6210300" y="2019300"/>
            <a:ext cx="5029200" cy="11176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13500" y="21844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D82034"/>
                </a:solidFill>
                <a:latin typeface="Georgia"/>
              </a:rP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5000" y="2184400"/>
            <a:ext cx="406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 i="0">
                <a:solidFill>
                  <a:srgbClr val="1C1C1E"/>
                </a:solidFill>
                <a:latin typeface="Calibri"/>
              </a:rPr>
              <a:t>Wer waren eure bisherigen Sponsoringpartner?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5000" y="2971800"/>
            <a:ext cx="4064000" cy="9525"/>
          </a:xfrm>
          <a:prstGeom prst="rect">
            <a:avLst/>
          </a:prstGeom>
          <a:solidFill>
            <a:srgbClr val="CFC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rage V"/>
          <p:cNvSpPr/>
          <p:nvPr/>
        </p:nvSpPr>
        <p:spPr>
          <a:xfrm>
            <a:off x="6210300" y="3263900"/>
            <a:ext cx="5029200" cy="11176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13500" y="34290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D82034"/>
                </a:solidFill>
                <a:latin typeface="Georgia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5000" y="3429000"/>
            <a:ext cx="406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 i="0">
                <a:solidFill>
                  <a:srgbClr val="1C1C1E"/>
                </a:solidFill>
                <a:latin typeface="Calibri"/>
              </a:rPr>
              <a:t>Was braucht ihr gerade am meisten?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5000" y="3683000"/>
            <a:ext cx="4064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7A7A80"/>
                </a:solidFill>
                <a:latin typeface="Calibri"/>
              </a:rPr>
              <a:t>(Taschen, Trikots, Trainingsanzüge …)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85000" y="4216400"/>
            <a:ext cx="4064000" cy="9525"/>
          </a:xfrm>
          <a:prstGeom prst="rect">
            <a:avLst/>
          </a:prstGeom>
          <a:solidFill>
            <a:srgbClr val="CFC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Frage VI"/>
          <p:cNvSpPr/>
          <p:nvPr/>
        </p:nvSpPr>
        <p:spPr>
          <a:xfrm>
            <a:off x="6210300" y="4508500"/>
            <a:ext cx="5029200" cy="11176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3500" y="46736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D82034"/>
                </a:solidFill>
                <a:latin typeface="Georgia"/>
              </a:rPr>
              <a:t>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5000" y="4673600"/>
            <a:ext cx="406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50" b="1" i="0">
                <a:solidFill>
                  <a:srgbClr val="1C1C1E"/>
                </a:solidFill>
                <a:latin typeface="Calibri"/>
              </a:rPr>
              <a:t>Wer war bislang Sponsor? Gibt es jemanden aus unserer Branche?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5000" y="5143500"/>
            <a:ext cx="4064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7A7A80"/>
                </a:solidFill>
                <a:latin typeface="Calibri"/>
              </a:rPr>
              <a:t>(Mannschaft/Verein)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85000" y="5461000"/>
            <a:ext cx="4064000" cy="9525"/>
          </a:xfrm>
          <a:prstGeom prst="rect">
            <a:avLst/>
          </a:prstGeom>
          <a:solidFill>
            <a:srgbClr val="CFC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52500" y="6184900"/>
            <a:ext cx="3937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 spc="200">
                <a:solidFill>
                  <a:srgbClr val="7A7A80"/>
                </a:solidFill>
                <a:latin typeface="Calibri"/>
              </a:rPr>
              <a:t>DIESE VEREINE UNTERSTÜTZEN WIR BEREITS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26000" y="6108700"/>
            <a:ext cx="1987550" cy="317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826000" y="6108700"/>
            <a:ext cx="198755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3B3B3F"/>
                </a:solidFill>
                <a:latin typeface="Calibri"/>
              </a:rPr>
              <a:t>VfL Berghausen-Gimborn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89750" y="6108700"/>
            <a:ext cx="2279650" cy="317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89750" y="6108700"/>
            <a:ext cx="227965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3B3B3F"/>
                </a:solidFill>
                <a:latin typeface="Calibri"/>
              </a:rPr>
              <a:t>The Wizards · 1. BBC Düren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45600" y="6108700"/>
            <a:ext cx="1330325" cy="317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245600" y="6108700"/>
            <a:ext cx="1330325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3B3B3F"/>
                </a:solidFill>
                <a:latin typeface="Calibri"/>
              </a:rPr>
              <a:t>SV Linde 1957</a:t>
            </a:r>
          </a:p>
        </p:txBody>
      </p:sp>
      <p:pic>
        <p:nvPicPr>
          <p:cNvPr id="39" name="!!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-1374140" y="4081780"/>
            <a:ext cx="5923280" cy="58674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III · UNSER SPONSORINGKONZEPT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5207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0" i="0">
                <a:solidFill>
                  <a:srgbClr val="1C1C1E"/>
                </a:solidFill>
                <a:latin typeface="Georgia"/>
              </a:rPr>
              <a:t>Unser</a:t>
            </a:r>
          </a:p>
          <a:p>
            <a:pPr algn="l"/>
            <a:r>
              <a:rPr sz="4000" b="0" i="0">
                <a:solidFill>
                  <a:srgbClr val="1C1C1E"/>
                </a:solidFill>
                <a:latin typeface="Georgia"/>
              </a:rPr>
              <a:t>Sponsoringkonzept</a:t>
            </a:r>
          </a:p>
        </p:txBody>
      </p:sp>
      <p:sp>
        <p:nvSpPr>
          <p:cNvPr id="6" name="Oval 5"/>
          <p:cNvSpPr/>
          <p:nvPr/>
        </p:nvSpPr>
        <p:spPr>
          <a:xfrm>
            <a:off x="952500" y="2540000"/>
            <a:ext cx="533400" cy="533400"/>
          </a:xfrm>
          <a:prstGeom prst="ellipse">
            <a:avLst/>
          </a:prstGeom>
          <a:solidFill>
            <a:srgbClr val="D82034"/>
          </a:solidFill>
          <a:ln>
            <a:noFill/>
          </a:ln>
          <a:effectLst>
            <a:outerShdw blurRad="190500" dist="88900" dir="5400000" algn="t" rotWithShape="0">
              <a:srgbClr val="D82034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on-euro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667000"/>
            <a:ext cx="279400" cy="279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51000" y="25781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1C1C1E"/>
                </a:solidFill>
                <a:latin typeface="Calibri"/>
              </a:rPr>
              <a:t>1.000 € Ausstattung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28321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7A7A80"/>
                </a:solidFill>
                <a:latin typeface="Calibri"/>
              </a:rPr>
              <a:t>für euren Verein – über 11teamsports</a:t>
            </a:r>
          </a:p>
        </p:txBody>
      </p:sp>
      <p:sp>
        <p:nvSpPr>
          <p:cNvPr id="10" name="Oval 9"/>
          <p:cNvSpPr/>
          <p:nvPr/>
        </p:nvSpPr>
        <p:spPr>
          <a:xfrm>
            <a:off x="952500" y="3289300"/>
            <a:ext cx="533400" cy="533400"/>
          </a:xfrm>
          <a:prstGeom prst="ellipse">
            <a:avLst/>
          </a:prstGeom>
          <a:solidFill>
            <a:srgbClr val="D82034"/>
          </a:solidFill>
          <a:ln>
            <a:noFill/>
          </a:ln>
          <a:effectLst>
            <a:outerShdw blurRad="190500" dist="88900" dir="5400000" algn="t" rotWithShape="0">
              <a:srgbClr val="D82034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icon-people-we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" y="3416300"/>
            <a:ext cx="279400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51000" y="33274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1C1C1E"/>
                </a:solidFill>
                <a:latin typeface="Calibri"/>
              </a:rPr>
              <a:t>Mindestens 4 Tester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1000" y="35814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7A7A80"/>
                </a:solidFill>
                <a:latin typeface="Calibri"/>
              </a:rPr>
              <a:t>aus euren Reihen lernen unsere Beratung kennen</a:t>
            </a:r>
          </a:p>
        </p:txBody>
      </p:sp>
      <p:sp>
        <p:nvSpPr>
          <p:cNvPr id="14" name="Oval 13"/>
          <p:cNvSpPr/>
          <p:nvPr/>
        </p:nvSpPr>
        <p:spPr>
          <a:xfrm>
            <a:off x="952500" y="4038600"/>
            <a:ext cx="533400" cy="533400"/>
          </a:xfrm>
          <a:prstGeom prst="ellipse">
            <a:avLst/>
          </a:prstGeom>
          <a:solidFill>
            <a:srgbClr val="D82034"/>
          </a:solidFill>
          <a:ln>
            <a:noFill/>
          </a:ln>
          <a:effectLst>
            <a:outerShdw blurRad="190500" dist="88900" dir="5400000" algn="t" rotWithShape="0">
              <a:srgbClr val="D82034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icon-hand-wei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0" y="4165600"/>
            <a:ext cx="279400" cy="279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51000" y="40767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1C1C1E"/>
                </a:solidFill>
                <a:latin typeface="Calibri"/>
              </a:rPr>
              <a:t>Persönliche Übergabe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1000" y="43307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7A7A80"/>
                </a:solidFill>
                <a:latin typeface="Calibri"/>
              </a:rPr>
              <a:t>bei euch vor Ort – mit Foto für eure Kanäle</a:t>
            </a:r>
          </a:p>
        </p:txBody>
      </p:sp>
      <p:pic>
        <p:nvPicPr>
          <p:cNvPr id="18" name="!!grafik" descr="anzei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444500"/>
            <a:ext cx="5715000" cy="5969000"/>
          </a:xfrm>
          <a:prstGeom prst="rect">
            <a:avLst/>
          </a:prstGeom>
        </p:spPr>
      </p:pic>
      <p:pic>
        <p:nvPicPr>
          <p:cNvPr id="19" name="!!logo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9641840" y="-2379980"/>
            <a:ext cx="4846320" cy="48006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III · UNSER SPONSORINGKONZEPT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01700" y="952500"/>
            <a:ext cx="48260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0" b="0" i="0">
                <a:solidFill>
                  <a:srgbClr val="D82034"/>
                </a:solidFill>
                <a:latin typeface="Georgia"/>
              </a:rPr>
              <a:t>1.000</a:t>
            </a:r>
            <a:r>
              <a:rPr sz="6000" b="0" i="0">
                <a:solidFill>
                  <a:srgbClr val="D82034"/>
                </a:solidFill>
                <a:latin typeface="Georgia"/>
              </a:rPr>
              <a:t> 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0" y="1587500"/>
            <a:ext cx="4826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3B3B3F"/>
                </a:solidFill>
                <a:latin typeface="Calibri"/>
              </a:rPr>
              <a:t>Ausstattung über </a:t>
            </a:r>
            <a:r>
              <a:rPr sz="1900" b="1" i="0">
                <a:solidFill>
                  <a:srgbClr val="1C1C1E"/>
                </a:solidFill>
                <a:latin typeface="Calibri"/>
              </a:rPr>
              <a:t>11teamsports</a:t>
            </a:r>
            <a:r>
              <a:rPr sz="1900" b="0" i="0">
                <a:solidFill>
                  <a:srgbClr val="3B3B3F"/>
                </a:solidFill>
                <a:latin typeface="Calibri"/>
              </a:rPr>
              <a:t> – ihr sucht aus, wir bestellen.</a:t>
            </a:r>
          </a:p>
        </p:txBody>
      </p:sp>
      <p:pic>
        <p:nvPicPr>
          <p:cNvPr id="7" name="Produkt 1" descr="produk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03500"/>
            <a:ext cx="3600450" cy="3619500"/>
          </a:xfrm>
          <a:prstGeom prst="rect">
            <a:avLst/>
          </a:prstGeom>
        </p:spPr>
      </p:pic>
      <p:pic>
        <p:nvPicPr>
          <p:cNvPr id="8" name="Produkt 2" descr="produkt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950" y="2603500"/>
            <a:ext cx="3600450" cy="3619500"/>
          </a:xfrm>
          <a:prstGeom prst="rect">
            <a:avLst/>
          </a:prstGeom>
        </p:spPr>
      </p:pic>
      <p:pic>
        <p:nvPicPr>
          <p:cNvPr id="9" name="Produkt 3" descr="produkt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900" y="2603500"/>
            <a:ext cx="360045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500" y="6350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1">
                <a:solidFill>
                  <a:srgbClr val="7A7A80"/>
                </a:solidFill>
                <a:latin typeface="Georgia"/>
              </a:rPr>
              <a:t>… natürlich mit eurem Vereinslogo – und unserem.</a:t>
            </a:r>
          </a:p>
        </p:txBody>
      </p:sp>
      <p:pic>
        <p:nvPicPr>
          <p:cNvPr id="11" name="!!logo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40000">
            <a:off x="-1422400" y="4025900"/>
            <a:ext cx="5384800" cy="53340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III · UNSER SPONSORINGKONZEPT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533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b="0" i="0">
                <a:solidFill>
                  <a:srgbClr val="1C1C1E"/>
                </a:solidFill>
                <a:latin typeface="Georgia"/>
              </a:rPr>
              <a:t>(Mindestens) 4 Tester</a:t>
            </a:r>
          </a:p>
        </p:txBody>
      </p:sp>
      <p:sp>
        <p:nvSpPr>
          <p:cNvPr id="6" name="!!lead"/>
          <p:cNvSpPr txBox="1"/>
          <p:nvPr/>
        </p:nvSpPr>
        <p:spPr>
          <a:xfrm>
            <a:off x="952500" y="1841500"/>
            <a:ext cx="4318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B3B3F"/>
                </a:solidFill>
                <a:latin typeface="Calibri"/>
              </a:rPr>
              <a:t>Mindestens vier Mitglieder lernen unsere Beratung kennen – ganz unverbindlich.</a:t>
            </a:r>
          </a:p>
        </p:txBody>
      </p:sp>
      <p:sp>
        <p:nvSpPr>
          <p:cNvPr id="7" name="!!tester0"/>
          <p:cNvSpPr/>
          <p:nvPr/>
        </p:nvSpPr>
        <p:spPr>
          <a:xfrm>
            <a:off x="9525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!!testi0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2654300"/>
            <a:ext cx="317500" cy="317500"/>
          </a:xfrm>
          <a:prstGeom prst="rect">
            <a:avLst/>
          </a:prstGeom>
        </p:spPr>
      </p:pic>
      <p:sp>
        <p:nvSpPr>
          <p:cNvPr id="9" name="!!tester1"/>
          <p:cNvSpPr/>
          <p:nvPr/>
        </p:nvSpPr>
        <p:spPr>
          <a:xfrm>
            <a:off x="15494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!!testi1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2654300"/>
            <a:ext cx="317500" cy="317500"/>
          </a:xfrm>
          <a:prstGeom prst="rect">
            <a:avLst/>
          </a:prstGeom>
        </p:spPr>
      </p:pic>
      <p:sp>
        <p:nvSpPr>
          <p:cNvPr id="11" name="!!tester2"/>
          <p:cNvSpPr/>
          <p:nvPr/>
        </p:nvSpPr>
        <p:spPr>
          <a:xfrm>
            <a:off x="21463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!!testi2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2654300"/>
            <a:ext cx="317500" cy="317500"/>
          </a:xfrm>
          <a:prstGeom prst="rect">
            <a:avLst/>
          </a:prstGeom>
        </p:spPr>
      </p:pic>
      <p:sp>
        <p:nvSpPr>
          <p:cNvPr id="13" name="!!tester3"/>
          <p:cNvSpPr/>
          <p:nvPr/>
        </p:nvSpPr>
        <p:spPr>
          <a:xfrm>
            <a:off x="27432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!!testi3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100" y="2654300"/>
            <a:ext cx="317500" cy="317500"/>
          </a:xfrm>
          <a:prstGeom prst="rect">
            <a:avLst/>
          </a:prstGeom>
        </p:spPr>
      </p:pic>
      <p:sp>
        <p:nvSpPr>
          <p:cNvPr id="15" name="!!count"/>
          <p:cNvSpPr txBox="1"/>
          <p:nvPr/>
        </p:nvSpPr>
        <p:spPr>
          <a:xfrm>
            <a:off x="3429000" y="2628900"/>
            <a:ext cx="127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D82034"/>
                </a:solidFill>
                <a:latin typeface="Georgia"/>
              </a:rPr>
              <a:t>4/4 ✓</a:t>
            </a:r>
          </a:p>
        </p:txBody>
      </p:sp>
      <p:sp>
        <p:nvSpPr>
          <p:cNvPr id="16" name="!!krit0"/>
          <p:cNvSpPr/>
          <p:nvPr/>
        </p:nvSpPr>
        <p:spPr>
          <a:xfrm>
            <a:off x="952500" y="3327400"/>
            <a:ext cx="1676400" cy="62230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!!kriti0" descr="icon-calendar-r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3486150"/>
            <a:ext cx="304800" cy="304800"/>
          </a:xfrm>
          <a:prstGeom prst="rect">
            <a:avLst/>
          </a:prstGeom>
        </p:spPr>
      </p:pic>
      <p:sp>
        <p:nvSpPr>
          <p:cNvPr id="18" name="!!kritl0"/>
          <p:cNvSpPr txBox="1"/>
          <p:nvPr/>
        </p:nvSpPr>
        <p:spPr>
          <a:xfrm>
            <a:off x="1511300" y="3441700"/>
            <a:ext cx="1066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300">
                <a:solidFill>
                  <a:srgbClr val="7A7A80"/>
                </a:solidFill>
                <a:latin typeface="Calibri"/>
              </a:rPr>
              <a:t>ALTER</a:t>
            </a:r>
          </a:p>
        </p:txBody>
      </p:sp>
      <p:sp>
        <p:nvSpPr>
          <p:cNvPr id="19" name="!!kritv0"/>
          <p:cNvSpPr txBox="1"/>
          <p:nvPr/>
        </p:nvSpPr>
        <p:spPr>
          <a:xfrm>
            <a:off x="1511300" y="3594100"/>
            <a:ext cx="1066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Calibri"/>
              </a:rPr>
              <a:t>18–35 Jahre</a:t>
            </a:r>
          </a:p>
        </p:txBody>
      </p:sp>
      <p:sp>
        <p:nvSpPr>
          <p:cNvPr id="20" name="!!krit1"/>
          <p:cNvSpPr/>
          <p:nvPr/>
        </p:nvSpPr>
        <p:spPr>
          <a:xfrm>
            <a:off x="2743200" y="3327400"/>
            <a:ext cx="2590800" cy="62230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!!kriti1" descr="icon-brief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900" y="3486150"/>
            <a:ext cx="304800" cy="304800"/>
          </a:xfrm>
          <a:prstGeom prst="rect">
            <a:avLst/>
          </a:prstGeom>
        </p:spPr>
      </p:pic>
      <p:sp>
        <p:nvSpPr>
          <p:cNvPr id="22" name="!!kritl1"/>
          <p:cNvSpPr txBox="1"/>
          <p:nvPr/>
        </p:nvSpPr>
        <p:spPr>
          <a:xfrm>
            <a:off x="3302000" y="3441700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300">
                <a:solidFill>
                  <a:srgbClr val="7A7A80"/>
                </a:solidFill>
                <a:latin typeface="Calibri"/>
              </a:rPr>
              <a:t>BERUF</a:t>
            </a:r>
          </a:p>
        </p:txBody>
      </p:sp>
      <p:sp>
        <p:nvSpPr>
          <p:cNvPr id="23" name="!!kritv1"/>
          <p:cNvSpPr txBox="1"/>
          <p:nvPr/>
        </p:nvSpPr>
        <p:spPr>
          <a:xfrm>
            <a:off x="3302000" y="3594100"/>
            <a:ext cx="1981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Calibri"/>
              </a:rPr>
              <a:t>sollten Vollzeit arbeiten</a:t>
            </a:r>
          </a:p>
        </p:txBody>
      </p:sp>
      <p:pic>
        <p:nvPicPr>
          <p:cNvPr id="24" name="!!rechts" descr="berater-buer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0000">
            <a:off x="5715000" y="889000"/>
            <a:ext cx="5715000" cy="4267200"/>
          </a:xfrm>
          <a:prstGeom prst="rect">
            <a:avLst/>
          </a:prstGeom>
          <a:ln w="63500">
            <a:solidFill>
              <a:srgbClr val="FFFFFF"/>
            </a:solidFill>
          </a:ln>
          <a:effectLst>
            <a:outerShdw blurRad="381000" dist="190500" dir="5400000" algn="t" rotWithShape="0">
              <a:srgbClr val="000000">
                <a:alpha val="35000"/>
              </a:srgbClr>
            </a:outerShdw>
          </a:effectLst>
        </p:spPr>
      </p:pic>
      <p:pic>
        <p:nvPicPr>
          <p:cNvPr id="25" name="!!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40000">
            <a:off x="-1422400" y="4025900"/>
            <a:ext cx="5384800" cy="53340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III · UNSER SPONSORINGKONZEPT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533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b="0" i="0">
                <a:solidFill>
                  <a:srgbClr val="1C1C1E"/>
                </a:solidFill>
                <a:latin typeface="Georgia"/>
              </a:rPr>
              <a:t>(Mindestens) 4 Tester</a:t>
            </a:r>
          </a:p>
        </p:txBody>
      </p:sp>
      <p:sp>
        <p:nvSpPr>
          <p:cNvPr id="6" name="!!lead"/>
          <p:cNvSpPr txBox="1"/>
          <p:nvPr/>
        </p:nvSpPr>
        <p:spPr>
          <a:xfrm>
            <a:off x="952500" y="1841500"/>
            <a:ext cx="4318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B3B3F"/>
                </a:solidFill>
                <a:latin typeface="Calibri"/>
              </a:rPr>
              <a:t>Mindestens vier Mitglieder lernen unsere Beratung kennen – ganz unverbindlich.</a:t>
            </a:r>
          </a:p>
        </p:txBody>
      </p:sp>
      <p:sp>
        <p:nvSpPr>
          <p:cNvPr id="7" name="!!tester0"/>
          <p:cNvSpPr/>
          <p:nvPr/>
        </p:nvSpPr>
        <p:spPr>
          <a:xfrm>
            <a:off x="9525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!!testi0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2654300"/>
            <a:ext cx="317500" cy="317500"/>
          </a:xfrm>
          <a:prstGeom prst="rect">
            <a:avLst/>
          </a:prstGeom>
        </p:spPr>
      </p:pic>
      <p:sp>
        <p:nvSpPr>
          <p:cNvPr id="9" name="!!tester1"/>
          <p:cNvSpPr/>
          <p:nvPr/>
        </p:nvSpPr>
        <p:spPr>
          <a:xfrm>
            <a:off x="15494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!!testi1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2654300"/>
            <a:ext cx="317500" cy="317500"/>
          </a:xfrm>
          <a:prstGeom prst="rect">
            <a:avLst/>
          </a:prstGeom>
        </p:spPr>
      </p:pic>
      <p:sp>
        <p:nvSpPr>
          <p:cNvPr id="11" name="!!tester2"/>
          <p:cNvSpPr/>
          <p:nvPr/>
        </p:nvSpPr>
        <p:spPr>
          <a:xfrm>
            <a:off x="21463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!!testi2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2654300"/>
            <a:ext cx="317500" cy="317500"/>
          </a:xfrm>
          <a:prstGeom prst="rect">
            <a:avLst/>
          </a:prstGeom>
        </p:spPr>
      </p:pic>
      <p:sp>
        <p:nvSpPr>
          <p:cNvPr id="13" name="!!tester3"/>
          <p:cNvSpPr/>
          <p:nvPr/>
        </p:nvSpPr>
        <p:spPr>
          <a:xfrm>
            <a:off x="27432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!!testi3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100" y="2654300"/>
            <a:ext cx="317500" cy="317500"/>
          </a:xfrm>
          <a:prstGeom prst="rect">
            <a:avLst/>
          </a:prstGeom>
        </p:spPr>
      </p:pic>
      <p:sp>
        <p:nvSpPr>
          <p:cNvPr id="15" name="!!count"/>
          <p:cNvSpPr txBox="1"/>
          <p:nvPr/>
        </p:nvSpPr>
        <p:spPr>
          <a:xfrm>
            <a:off x="3429000" y="2628900"/>
            <a:ext cx="127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D82034"/>
                </a:solidFill>
                <a:latin typeface="Georgia"/>
              </a:rPr>
              <a:t>4/4 ✓</a:t>
            </a:r>
          </a:p>
        </p:txBody>
      </p:sp>
      <p:sp>
        <p:nvSpPr>
          <p:cNvPr id="16" name="!!krit0"/>
          <p:cNvSpPr/>
          <p:nvPr/>
        </p:nvSpPr>
        <p:spPr>
          <a:xfrm>
            <a:off x="952500" y="3327400"/>
            <a:ext cx="1676400" cy="62230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!!kriti0" descr="icon-calendar-r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3486150"/>
            <a:ext cx="304800" cy="304800"/>
          </a:xfrm>
          <a:prstGeom prst="rect">
            <a:avLst/>
          </a:prstGeom>
        </p:spPr>
      </p:pic>
      <p:sp>
        <p:nvSpPr>
          <p:cNvPr id="18" name="!!kritl0"/>
          <p:cNvSpPr txBox="1"/>
          <p:nvPr/>
        </p:nvSpPr>
        <p:spPr>
          <a:xfrm>
            <a:off x="1511300" y="3441700"/>
            <a:ext cx="1066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300">
                <a:solidFill>
                  <a:srgbClr val="7A7A80"/>
                </a:solidFill>
                <a:latin typeface="Calibri"/>
              </a:rPr>
              <a:t>ALTER</a:t>
            </a:r>
          </a:p>
        </p:txBody>
      </p:sp>
      <p:sp>
        <p:nvSpPr>
          <p:cNvPr id="19" name="!!kritv0"/>
          <p:cNvSpPr txBox="1"/>
          <p:nvPr/>
        </p:nvSpPr>
        <p:spPr>
          <a:xfrm>
            <a:off x="1511300" y="3594100"/>
            <a:ext cx="1066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Calibri"/>
              </a:rPr>
              <a:t>18–35 Jahre</a:t>
            </a:r>
          </a:p>
        </p:txBody>
      </p:sp>
      <p:sp>
        <p:nvSpPr>
          <p:cNvPr id="20" name="!!krit1"/>
          <p:cNvSpPr/>
          <p:nvPr/>
        </p:nvSpPr>
        <p:spPr>
          <a:xfrm>
            <a:off x="2743200" y="3327400"/>
            <a:ext cx="2590800" cy="62230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!!kriti1" descr="icon-brief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900" y="3486150"/>
            <a:ext cx="304800" cy="304800"/>
          </a:xfrm>
          <a:prstGeom prst="rect">
            <a:avLst/>
          </a:prstGeom>
        </p:spPr>
      </p:pic>
      <p:sp>
        <p:nvSpPr>
          <p:cNvPr id="22" name="!!kritl1"/>
          <p:cNvSpPr txBox="1"/>
          <p:nvPr/>
        </p:nvSpPr>
        <p:spPr>
          <a:xfrm>
            <a:off x="3302000" y="3441700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300">
                <a:solidFill>
                  <a:srgbClr val="7A7A80"/>
                </a:solidFill>
                <a:latin typeface="Calibri"/>
              </a:rPr>
              <a:t>BERUF</a:t>
            </a:r>
          </a:p>
        </p:txBody>
      </p:sp>
      <p:sp>
        <p:nvSpPr>
          <p:cNvPr id="23" name="!!kritv1"/>
          <p:cNvSpPr txBox="1"/>
          <p:nvPr/>
        </p:nvSpPr>
        <p:spPr>
          <a:xfrm>
            <a:off x="3302000" y="3594100"/>
            <a:ext cx="1981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Calibri"/>
              </a:rPr>
              <a:t>sollten Vollzeit arbeiten</a:t>
            </a:r>
          </a:p>
        </p:txBody>
      </p:sp>
      <p:pic>
        <p:nvPicPr>
          <p:cNvPr id="24" name="!!rechts" descr="tester-ap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000" y="508000"/>
            <a:ext cx="6350000" cy="5588000"/>
          </a:xfrm>
          <a:prstGeom prst="rect">
            <a:avLst/>
          </a:prstGeom>
        </p:spPr>
      </p:pic>
      <p:pic>
        <p:nvPicPr>
          <p:cNvPr id="25" name="!!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40000">
            <a:off x="-1422400" y="4025900"/>
            <a:ext cx="5384800" cy="53340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III · UNSER SPONSORINGKONZEPT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533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b="0" i="0">
                <a:solidFill>
                  <a:srgbClr val="1C1C1E"/>
                </a:solidFill>
                <a:latin typeface="Georgia"/>
              </a:rPr>
              <a:t>(Mindestens) 4 Tester</a:t>
            </a:r>
          </a:p>
        </p:txBody>
      </p:sp>
      <p:sp>
        <p:nvSpPr>
          <p:cNvPr id="6" name="!!lead"/>
          <p:cNvSpPr txBox="1"/>
          <p:nvPr/>
        </p:nvSpPr>
        <p:spPr>
          <a:xfrm>
            <a:off x="952500" y="1841500"/>
            <a:ext cx="4318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B3B3F"/>
                </a:solidFill>
                <a:latin typeface="Calibri"/>
              </a:rPr>
              <a:t>Mindestens vier Mitglieder lernen unsere Beratung kennen – ganz unverbindlich.</a:t>
            </a:r>
          </a:p>
        </p:txBody>
      </p:sp>
      <p:sp>
        <p:nvSpPr>
          <p:cNvPr id="7" name="!!tester0"/>
          <p:cNvSpPr/>
          <p:nvPr/>
        </p:nvSpPr>
        <p:spPr>
          <a:xfrm>
            <a:off x="9525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!!testi0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2654300"/>
            <a:ext cx="317500" cy="317500"/>
          </a:xfrm>
          <a:prstGeom prst="rect">
            <a:avLst/>
          </a:prstGeom>
        </p:spPr>
      </p:pic>
      <p:sp>
        <p:nvSpPr>
          <p:cNvPr id="9" name="!!tester1"/>
          <p:cNvSpPr/>
          <p:nvPr/>
        </p:nvSpPr>
        <p:spPr>
          <a:xfrm>
            <a:off x="15494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!!testi1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2654300"/>
            <a:ext cx="317500" cy="317500"/>
          </a:xfrm>
          <a:prstGeom prst="rect">
            <a:avLst/>
          </a:prstGeom>
        </p:spPr>
      </p:pic>
      <p:sp>
        <p:nvSpPr>
          <p:cNvPr id="11" name="!!tester2"/>
          <p:cNvSpPr/>
          <p:nvPr/>
        </p:nvSpPr>
        <p:spPr>
          <a:xfrm>
            <a:off x="21463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!!testi2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2654300"/>
            <a:ext cx="317500" cy="317500"/>
          </a:xfrm>
          <a:prstGeom prst="rect">
            <a:avLst/>
          </a:prstGeom>
        </p:spPr>
      </p:pic>
      <p:sp>
        <p:nvSpPr>
          <p:cNvPr id="13" name="!!tester3"/>
          <p:cNvSpPr/>
          <p:nvPr/>
        </p:nvSpPr>
        <p:spPr>
          <a:xfrm>
            <a:off x="2743200" y="2565400"/>
            <a:ext cx="495300" cy="4953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!!testi3" descr="icon-advisor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100" y="2654300"/>
            <a:ext cx="317500" cy="317500"/>
          </a:xfrm>
          <a:prstGeom prst="rect">
            <a:avLst/>
          </a:prstGeom>
        </p:spPr>
      </p:pic>
      <p:sp>
        <p:nvSpPr>
          <p:cNvPr id="15" name="!!count"/>
          <p:cNvSpPr txBox="1"/>
          <p:nvPr/>
        </p:nvSpPr>
        <p:spPr>
          <a:xfrm>
            <a:off x="3429000" y="2628900"/>
            <a:ext cx="127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D82034"/>
                </a:solidFill>
                <a:latin typeface="Georgia"/>
              </a:rPr>
              <a:t>4/4 ✓</a:t>
            </a:r>
          </a:p>
        </p:txBody>
      </p:sp>
      <p:sp>
        <p:nvSpPr>
          <p:cNvPr id="16" name="!!krit0"/>
          <p:cNvSpPr/>
          <p:nvPr/>
        </p:nvSpPr>
        <p:spPr>
          <a:xfrm>
            <a:off x="952500" y="3327400"/>
            <a:ext cx="1676400" cy="62230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!!kriti0" descr="icon-calendar-r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3486150"/>
            <a:ext cx="304800" cy="304800"/>
          </a:xfrm>
          <a:prstGeom prst="rect">
            <a:avLst/>
          </a:prstGeom>
        </p:spPr>
      </p:pic>
      <p:sp>
        <p:nvSpPr>
          <p:cNvPr id="18" name="!!kritl0"/>
          <p:cNvSpPr txBox="1"/>
          <p:nvPr/>
        </p:nvSpPr>
        <p:spPr>
          <a:xfrm>
            <a:off x="1511300" y="3441700"/>
            <a:ext cx="1066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300">
                <a:solidFill>
                  <a:srgbClr val="7A7A80"/>
                </a:solidFill>
                <a:latin typeface="Calibri"/>
              </a:rPr>
              <a:t>ALTER</a:t>
            </a:r>
          </a:p>
        </p:txBody>
      </p:sp>
      <p:sp>
        <p:nvSpPr>
          <p:cNvPr id="19" name="!!kritv0"/>
          <p:cNvSpPr txBox="1"/>
          <p:nvPr/>
        </p:nvSpPr>
        <p:spPr>
          <a:xfrm>
            <a:off x="1511300" y="3594100"/>
            <a:ext cx="1066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Calibri"/>
              </a:rPr>
              <a:t>18–35 Jahre</a:t>
            </a:r>
          </a:p>
        </p:txBody>
      </p:sp>
      <p:sp>
        <p:nvSpPr>
          <p:cNvPr id="20" name="!!krit1"/>
          <p:cNvSpPr/>
          <p:nvPr/>
        </p:nvSpPr>
        <p:spPr>
          <a:xfrm>
            <a:off x="2743200" y="3327400"/>
            <a:ext cx="2590800" cy="622300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>
            <a:noFill/>
          </a:ln>
          <a:effectLst>
            <a:outerShdw blurRad="254000" dist="1016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!!kriti1" descr="icon-brief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900" y="3486150"/>
            <a:ext cx="304800" cy="304800"/>
          </a:xfrm>
          <a:prstGeom prst="rect">
            <a:avLst/>
          </a:prstGeom>
        </p:spPr>
      </p:pic>
      <p:sp>
        <p:nvSpPr>
          <p:cNvPr id="22" name="!!kritl1"/>
          <p:cNvSpPr txBox="1"/>
          <p:nvPr/>
        </p:nvSpPr>
        <p:spPr>
          <a:xfrm>
            <a:off x="3302000" y="3441700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300">
                <a:solidFill>
                  <a:srgbClr val="7A7A80"/>
                </a:solidFill>
                <a:latin typeface="Calibri"/>
              </a:rPr>
              <a:t>BERUF</a:t>
            </a:r>
          </a:p>
        </p:txBody>
      </p:sp>
      <p:sp>
        <p:nvSpPr>
          <p:cNvPr id="23" name="!!kritv1"/>
          <p:cNvSpPr txBox="1"/>
          <p:nvPr/>
        </p:nvSpPr>
        <p:spPr>
          <a:xfrm>
            <a:off x="3302000" y="3594100"/>
            <a:ext cx="1981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C1C1E"/>
                </a:solidFill>
                <a:latin typeface="Calibri"/>
              </a:rPr>
              <a:t>sollten Vollzeit arbeiten</a:t>
            </a:r>
          </a:p>
        </p:txBody>
      </p:sp>
      <p:pic>
        <p:nvPicPr>
          <p:cNvPr id="24" name="!!rechts" descr="tester-vorte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000" y="508000"/>
            <a:ext cx="6350000" cy="5588000"/>
          </a:xfrm>
          <a:prstGeom prst="rect">
            <a:avLst/>
          </a:prstGeom>
        </p:spPr>
      </p:pic>
      <p:sp>
        <p:nvSpPr>
          <p:cNvPr id="25" name="Niemand"/>
          <p:cNvSpPr/>
          <p:nvPr/>
        </p:nvSpPr>
        <p:spPr>
          <a:xfrm>
            <a:off x="3302000" y="5746750"/>
            <a:ext cx="5588000" cy="698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6E0CE"/>
            </a:solidFill>
          </a:ln>
          <a:effectLst>
            <a:outerShdw blurRad="317500" dist="139700" dir="5400000" algn="t" rotWithShape="0">
              <a:srgbClr val="2F8A4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3467100" y="5899150"/>
            <a:ext cx="393700" cy="393700"/>
          </a:xfrm>
          <a:prstGeom prst="ellipse">
            <a:avLst/>
          </a:prstGeom>
          <a:solidFill>
            <a:srgbClr val="2F8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icon-check-wei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5975350"/>
            <a:ext cx="241300" cy="241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000500" y="5746750"/>
            <a:ext cx="4826000" cy="698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1">
                <a:solidFill>
                  <a:srgbClr val="2F8A4E"/>
                </a:solidFill>
                <a:latin typeface="Georgia"/>
              </a:rPr>
              <a:t>Niemand muss Kunde werden!</a:t>
            </a:r>
          </a:p>
        </p:txBody>
      </p:sp>
      <p:pic>
        <p:nvPicPr>
          <p:cNvPr id="29" name="!!logo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10093960" y="-1988820"/>
            <a:ext cx="4577080" cy="45339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III · UNSER SPONSORINGKONZEPT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0" i="0">
                <a:solidFill>
                  <a:srgbClr val="1C1C1E"/>
                </a:solidFill>
                <a:latin typeface="Georgia"/>
              </a:rPr>
              <a:t>Wir kommen mit den Artikeln bei euch im Vereinsheim vorbei und stellen uns allen vor …</a:t>
            </a:r>
          </a:p>
        </p:txBody>
      </p:sp>
      <p:pic>
        <p:nvPicPr>
          <p:cNvPr id="6" name="!!grafik" descr="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2159000"/>
            <a:ext cx="11176000" cy="4191000"/>
          </a:xfrm>
          <a:prstGeom prst="rect">
            <a:avLst/>
          </a:prstGeom>
        </p:spPr>
      </p:pic>
      <p:pic>
        <p:nvPicPr>
          <p:cNvPr id="7" name="!!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grafik" descr="koeln-ausbli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0" y="0"/>
            <a:ext cx="12255500" cy="6858000"/>
          </a:xfrm>
          <a:prstGeom prst="rect">
            <a:avLst/>
          </a:prstGeom>
        </p:spPr>
      </p:pic>
      <p:sp>
        <p:nvSpPr>
          <p:cNvPr id="3" name="Verlauf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0C16">
                  <a:alpha val="74000"/>
                </a:srgbClr>
              </a:gs>
              <a:gs pos="34000">
                <a:srgbClr val="080C16">
                  <a:alpha val="36000"/>
                </a:srgbClr>
              </a:gs>
              <a:gs pos="60000">
                <a:srgbClr val="080C16">
                  <a:alpha val="0"/>
                </a:srgbClr>
              </a:gs>
              <a:gs pos="100000">
                <a:srgbClr val="080C16">
                  <a:alpha val="30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FFFFFF"/>
                </a:solidFill>
                <a:latin typeface="Calibri"/>
              </a:rPr>
              <a:t>III · UNSER SPONSORINGKONZEPT</a:t>
            </a:r>
          </a:p>
        </p:txBody>
      </p:sp>
      <p:sp>
        <p:nvSpPr>
          <p:cNvPr id="6" name="!!titel"/>
          <p:cNvSpPr txBox="1"/>
          <p:nvPr/>
        </p:nvSpPr>
        <p:spPr>
          <a:xfrm>
            <a:off x="952500" y="1016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Georgia"/>
              </a:rPr>
              <a:t>Oder ihr besucht uns in unserer Kanzlei über Köln …</a:t>
            </a:r>
          </a:p>
        </p:txBody>
      </p:sp>
      <p:sp>
        <p:nvSpPr>
          <p:cNvPr id="7" name="Adresse"/>
          <p:cNvSpPr/>
          <p:nvPr/>
        </p:nvSpPr>
        <p:spPr>
          <a:xfrm>
            <a:off x="952500" y="5905500"/>
            <a:ext cx="3302000" cy="571500"/>
          </a:xfrm>
          <a:prstGeom prst="roundRect">
            <a:avLst>
              <a:gd name="adj" fmla="val 20000"/>
            </a:avLst>
          </a:prstGeom>
          <a:solidFill>
            <a:srgbClr val="FFFFFF">
              <a:alpha val="16000"/>
            </a:srgbClr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con-pin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603885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8600" y="59944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Finanzkanzlei für Swiss Life 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8600" y="62357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Köln</a:t>
            </a:r>
          </a:p>
        </p:txBody>
      </p:sp>
      <p:sp>
        <p:nvSpPr>
          <p:cNvPr id="11" name="Logo-Hintergrund"/>
          <p:cNvSpPr/>
          <p:nvPr/>
        </p:nvSpPr>
        <p:spPr>
          <a:xfrm>
            <a:off x="11061700" y="5905500"/>
            <a:ext cx="11303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0" dist="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!!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0450" y="60198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20000">
            <a:off x="9641840" y="2065020"/>
            <a:ext cx="4846320" cy="48006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III · UNSER SPONSORINGKONZEPT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0" i="0">
                <a:solidFill>
                  <a:srgbClr val="1C1C1E"/>
                </a:solidFill>
                <a:latin typeface="Georgia"/>
              </a:rPr>
              <a:t>Kommunikation transparent für alle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1612900"/>
            <a:ext cx="952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1">
                <a:solidFill>
                  <a:srgbClr val="7A7A80"/>
                </a:solidFill>
                <a:latin typeface="Georgia"/>
              </a:rPr>
              <a:t>Eine gemeinsame WhatsApp-Gruppe – alle sind jederzeit auf dem gleichen Stand.</a:t>
            </a:r>
          </a:p>
        </p:txBody>
      </p:sp>
      <p:pic>
        <p:nvPicPr>
          <p:cNvPr id="7" name="!!grafik" descr="telef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905000"/>
            <a:ext cx="7620000" cy="4953000"/>
          </a:xfrm>
          <a:prstGeom prst="rect">
            <a:avLst/>
          </a:prstGeom>
        </p:spPr>
      </p:pic>
      <p:pic>
        <p:nvPicPr>
          <p:cNvPr id="8" name="!!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-1470660" y="4287520"/>
            <a:ext cx="4846320" cy="4800600"/>
          </a:xfrm>
          <a:prstGeom prst="rect">
            <a:avLst/>
          </a:prstGeom>
        </p:spPr>
      </p:pic>
      <p:sp>
        <p:nvSpPr>
          <p:cNvPr id="3" name="!!titel"/>
          <p:cNvSpPr txBox="1"/>
          <p:nvPr/>
        </p:nvSpPr>
        <p:spPr>
          <a:xfrm>
            <a:off x="0" y="3060700"/>
            <a:ext cx="12192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4400" b="0" i="0">
                <a:solidFill>
                  <a:srgbClr val="1C1C1E"/>
                </a:solidFill>
                <a:latin typeface="Georgia"/>
              </a:rPr>
              <a:t>Weitere Vorgehensweise in 5 Schritten</a:t>
            </a:r>
          </a:p>
        </p:txBody>
      </p:sp>
      <p:pic>
        <p:nvPicPr>
          <p:cNvPr id="4" name="!!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-1470660" y="4287520"/>
            <a:ext cx="4846320" cy="48006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IV · WIE GEHT ES WEITER?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0" i="0">
                <a:solidFill>
                  <a:srgbClr val="1C1C1E"/>
                </a:solidFill>
                <a:latin typeface="Georgia"/>
              </a:rPr>
              <a:t>Weitere Vorgehensweise in 5 Schritten</a:t>
            </a:r>
          </a:p>
        </p:txBody>
      </p:sp>
      <p:sp>
        <p:nvSpPr>
          <p:cNvPr id="6" name="!!kreis"/>
          <p:cNvSpPr/>
          <p:nvPr/>
        </p:nvSpPr>
        <p:spPr>
          <a:xfrm>
            <a:off x="4305300" y="2197100"/>
            <a:ext cx="3581400" cy="3581400"/>
          </a:xfrm>
          <a:prstGeom prst="ellipse">
            <a:avLst/>
          </a:prstGeom>
          <a:noFill/>
          <a:ln w="19050">
            <a:solidFill>
              <a:srgbClr val="D3D3D8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komet"/>
          <p:cNvSpPr/>
          <p:nvPr/>
        </p:nvSpPr>
        <p:spPr>
          <a:xfrm>
            <a:off x="6026150" y="2127250"/>
            <a:ext cx="139700" cy="1397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knoten0"/>
          <p:cNvSpPr/>
          <p:nvPr/>
        </p:nvSpPr>
        <p:spPr>
          <a:xfrm>
            <a:off x="5553075" y="1654175"/>
            <a:ext cx="1085850" cy="1085850"/>
          </a:xfrm>
          <a:prstGeom prst="roundRect">
            <a:avLst>
              <a:gd name="adj" fmla="val 16374"/>
            </a:avLst>
          </a:prstGeom>
          <a:solidFill>
            <a:srgbClr val="D82034"/>
          </a:solidFill>
          <a:ln>
            <a:noFill/>
          </a:ln>
          <a:effectLst>
            <a:outerShdw blurRad="317500" dist="152400" dir="5400000" algn="t" rotWithShape="0">
              <a:srgbClr val="D8203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!!symbol0" descr="icon-thumb-we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635" y="1943735"/>
            <a:ext cx="506730" cy="506730"/>
          </a:xfrm>
          <a:prstGeom prst="rect">
            <a:avLst/>
          </a:prstGeom>
        </p:spPr>
      </p:pic>
      <p:sp>
        <p:nvSpPr>
          <p:cNvPr id="10" name="!!nr0"/>
          <p:cNvSpPr/>
          <p:nvPr/>
        </p:nvSpPr>
        <p:spPr>
          <a:xfrm>
            <a:off x="6423025" y="1577975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nrt0"/>
          <p:cNvSpPr txBox="1"/>
          <p:nvPr/>
        </p:nvSpPr>
        <p:spPr>
          <a:xfrm>
            <a:off x="6423025" y="1577975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1</a:t>
            </a:r>
          </a:p>
        </p:txBody>
      </p:sp>
      <p:sp>
        <p:nvSpPr>
          <p:cNvPr id="12" name="!!label0"/>
          <p:cNvSpPr txBox="1"/>
          <p:nvPr/>
        </p:nvSpPr>
        <p:spPr>
          <a:xfrm>
            <a:off x="6794500" y="1689100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D82034"/>
                </a:solidFill>
                <a:latin typeface="Calibri"/>
              </a:rPr>
              <a:t>SCHRITT 1</a:t>
            </a:r>
          </a:p>
          <a:p>
            <a:pPr algn="l"/>
            <a:r>
              <a:rPr sz="1650" b="1" i="0">
                <a:solidFill>
                  <a:srgbClr val="1C1C1E"/>
                </a:solidFill>
                <a:latin typeface="Calibri"/>
              </a:rPr>
              <a:t>Ihr stimmt euch ab.</a:t>
            </a:r>
          </a:p>
          <a:p>
            <a:pPr algn="l"/>
            <a:r>
              <a:rPr sz="1650" b="1" i="0">
                <a:solidFill>
                  <a:srgbClr val="1C1C1E"/>
                </a:solidFill>
                <a:latin typeface="Calibri"/>
              </a:rPr>
              <a:t>Passt alles?</a:t>
            </a:r>
          </a:p>
        </p:txBody>
      </p:sp>
      <p:sp>
        <p:nvSpPr>
          <p:cNvPr id="13" name="!!knoten1"/>
          <p:cNvSpPr/>
          <p:nvPr/>
        </p:nvSpPr>
        <p:spPr>
          <a:xfrm>
            <a:off x="7322807" y="2958193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!!symbol1" descr="icon-hand-r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07" y="3212193"/>
            <a:ext cx="444500" cy="444500"/>
          </a:xfrm>
          <a:prstGeom prst="rect">
            <a:avLst/>
          </a:prstGeom>
        </p:spPr>
      </p:pic>
      <p:sp>
        <p:nvSpPr>
          <p:cNvPr id="15" name="!!nr1"/>
          <p:cNvSpPr/>
          <p:nvPr/>
        </p:nvSpPr>
        <p:spPr>
          <a:xfrm>
            <a:off x="8059407" y="2881993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nrt1"/>
          <p:cNvSpPr txBox="1"/>
          <p:nvPr/>
        </p:nvSpPr>
        <p:spPr>
          <a:xfrm>
            <a:off x="8059407" y="2881993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2</a:t>
            </a:r>
          </a:p>
        </p:txBody>
      </p:sp>
      <p:sp>
        <p:nvSpPr>
          <p:cNvPr id="17" name="!!label1"/>
          <p:cNvSpPr txBox="1"/>
          <p:nvPr/>
        </p:nvSpPr>
        <p:spPr>
          <a:xfrm>
            <a:off x="8497557" y="3218543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A6A6AB"/>
                </a:solidFill>
                <a:latin typeface="Calibri"/>
              </a:rPr>
              <a:t>Wir kommen zum Training oder Spiel vorbei.</a:t>
            </a:r>
          </a:p>
        </p:txBody>
      </p:sp>
      <p:sp>
        <p:nvSpPr>
          <p:cNvPr id="18" name="!!knoten2"/>
          <p:cNvSpPr/>
          <p:nvPr/>
        </p:nvSpPr>
        <p:spPr>
          <a:xfrm>
            <a:off x="6672297" y="4960257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!!symbol2" descr="icon-people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297" y="5214257"/>
            <a:ext cx="444500" cy="444500"/>
          </a:xfrm>
          <a:prstGeom prst="rect">
            <a:avLst/>
          </a:prstGeom>
        </p:spPr>
      </p:pic>
      <p:sp>
        <p:nvSpPr>
          <p:cNvPr id="20" name="!!nr2"/>
          <p:cNvSpPr/>
          <p:nvPr/>
        </p:nvSpPr>
        <p:spPr>
          <a:xfrm>
            <a:off x="7408897" y="4884057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nrt2"/>
          <p:cNvSpPr txBox="1"/>
          <p:nvPr/>
        </p:nvSpPr>
        <p:spPr>
          <a:xfrm>
            <a:off x="7408897" y="4884057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3</a:t>
            </a:r>
          </a:p>
        </p:txBody>
      </p:sp>
      <p:sp>
        <p:nvSpPr>
          <p:cNvPr id="22" name="!!label2"/>
          <p:cNvSpPr txBox="1"/>
          <p:nvPr/>
        </p:nvSpPr>
        <p:spPr>
          <a:xfrm>
            <a:off x="7847047" y="5220607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A6A6AB"/>
                </a:solidFill>
                <a:latin typeface="Calibri"/>
              </a:rPr>
              <a:t>Mindestens 4 Tester testen uns.</a:t>
            </a:r>
          </a:p>
        </p:txBody>
      </p:sp>
      <p:sp>
        <p:nvSpPr>
          <p:cNvPr id="23" name="!!knoten3"/>
          <p:cNvSpPr/>
          <p:nvPr/>
        </p:nvSpPr>
        <p:spPr>
          <a:xfrm>
            <a:off x="4567203" y="4960257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!!symbol3" descr="icon-bag-r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203" y="5214257"/>
            <a:ext cx="444500" cy="444500"/>
          </a:xfrm>
          <a:prstGeom prst="rect">
            <a:avLst/>
          </a:prstGeom>
        </p:spPr>
      </p:pic>
      <p:sp>
        <p:nvSpPr>
          <p:cNvPr id="25" name="!!nr3"/>
          <p:cNvSpPr/>
          <p:nvPr/>
        </p:nvSpPr>
        <p:spPr>
          <a:xfrm>
            <a:off x="5303803" y="4884057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nrt3"/>
          <p:cNvSpPr txBox="1"/>
          <p:nvPr/>
        </p:nvSpPr>
        <p:spPr>
          <a:xfrm>
            <a:off x="5303803" y="4884057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4</a:t>
            </a:r>
          </a:p>
        </p:txBody>
      </p:sp>
      <p:sp>
        <p:nvSpPr>
          <p:cNvPr id="27" name="!!label3"/>
          <p:cNvSpPr txBox="1"/>
          <p:nvPr/>
        </p:nvSpPr>
        <p:spPr>
          <a:xfrm>
            <a:off x="1614453" y="5220607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50" b="1" i="0">
                <a:solidFill>
                  <a:srgbClr val="A6A6AB"/>
                </a:solidFill>
                <a:latin typeface="Calibri"/>
              </a:rPr>
              <a:t>Wir bestellen eure Ware.</a:t>
            </a:r>
          </a:p>
        </p:txBody>
      </p:sp>
      <p:sp>
        <p:nvSpPr>
          <p:cNvPr id="28" name="!!knoten4"/>
          <p:cNvSpPr/>
          <p:nvPr/>
        </p:nvSpPr>
        <p:spPr>
          <a:xfrm>
            <a:off x="3916693" y="2958193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!!symbol4" descr="icon-present-r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0693" y="3212193"/>
            <a:ext cx="444500" cy="444500"/>
          </a:xfrm>
          <a:prstGeom prst="rect">
            <a:avLst/>
          </a:prstGeom>
        </p:spPr>
      </p:pic>
      <p:sp>
        <p:nvSpPr>
          <p:cNvPr id="30" name="!!nr4"/>
          <p:cNvSpPr/>
          <p:nvPr/>
        </p:nvSpPr>
        <p:spPr>
          <a:xfrm>
            <a:off x="4653293" y="2881993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!!nrt4"/>
          <p:cNvSpPr txBox="1"/>
          <p:nvPr/>
        </p:nvSpPr>
        <p:spPr>
          <a:xfrm>
            <a:off x="4653293" y="2881993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5</a:t>
            </a:r>
          </a:p>
        </p:txBody>
      </p:sp>
      <p:sp>
        <p:nvSpPr>
          <p:cNvPr id="32" name="!!label4"/>
          <p:cNvSpPr txBox="1"/>
          <p:nvPr/>
        </p:nvSpPr>
        <p:spPr>
          <a:xfrm>
            <a:off x="963943" y="3218543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50" b="1" i="0">
                <a:solidFill>
                  <a:srgbClr val="A6A6AB"/>
                </a:solidFill>
                <a:latin typeface="Calibri"/>
              </a:rPr>
              <a:t>Wir kommen vorbei und stellen uns der gesamten Mannschaft vor.</a:t>
            </a:r>
          </a:p>
        </p:txBody>
      </p:sp>
      <p:pic>
        <p:nvPicPr>
          <p:cNvPr id="33" name="!!logo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-1470660" y="4287520"/>
            <a:ext cx="4846320" cy="48006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IV · WIE GEHT ES WEITER?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0" i="0">
                <a:solidFill>
                  <a:srgbClr val="1C1C1E"/>
                </a:solidFill>
                <a:latin typeface="Georgia"/>
              </a:rPr>
              <a:t>Weitere Vorgehensweise in 5 Schritten</a:t>
            </a:r>
          </a:p>
        </p:txBody>
      </p:sp>
      <p:sp>
        <p:nvSpPr>
          <p:cNvPr id="6" name="!!kreis"/>
          <p:cNvSpPr/>
          <p:nvPr/>
        </p:nvSpPr>
        <p:spPr>
          <a:xfrm>
            <a:off x="4305300" y="2197100"/>
            <a:ext cx="3581400" cy="3581400"/>
          </a:xfrm>
          <a:prstGeom prst="ellipse">
            <a:avLst/>
          </a:prstGeom>
          <a:noFill/>
          <a:ln w="19050">
            <a:solidFill>
              <a:srgbClr val="D3D3D8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bogen"/>
          <p:cNvSpPr/>
          <p:nvPr/>
        </p:nvSpPr>
        <p:spPr>
          <a:xfrm>
            <a:off x="4305300" y="2197100"/>
            <a:ext cx="3581400" cy="3581400"/>
          </a:xfrm>
          <a:prstGeom prst="arc">
            <a:avLst>
              <a:gd name="adj1" fmla="val 16200000"/>
              <a:gd name="adj2" fmla="val 20520000"/>
            </a:avLst>
          </a:prstGeom>
          <a:noFill/>
          <a:ln w="3175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komet"/>
          <p:cNvSpPr/>
          <p:nvPr/>
        </p:nvSpPr>
        <p:spPr>
          <a:xfrm>
            <a:off x="7729207" y="3364593"/>
            <a:ext cx="139700" cy="1397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knoten0"/>
          <p:cNvSpPr/>
          <p:nvPr/>
        </p:nvSpPr>
        <p:spPr>
          <a:xfrm>
            <a:off x="5619750" y="1720850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BE9EB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!!symbol0" descr="icon-thumb-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0" y="1974850"/>
            <a:ext cx="444500" cy="444500"/>
          </a:xfrm>
          <a:prstGeom prst="rect">
            <a:avLst/>
          </a:prstGeom>
        </p:spPr>
      </p:pic>
      <p:sp>
        <p:nvSpPr>
          <p:cNvPr id="11" name="!!nr0"/>
          <p:cNvSpPr/>
          <p:nvPr/>
        </p:nvSpPr>
        <p:spPr>
          <a:xfrm>
            <a:off x="6356350" y="1644650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nrt0"/>
          <p:cNvSpPr txBox="1"/>
          <p:nvPr/>
        </p:nvSpPr>
        <p:spPr>
          <a:xfrm>
            <a:off x="6356350" y="1644650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1</a:t>
            </a:r>
          </a:p>
        </p:txBody>
      </p:sp>
      <p:sp>
        <p:nvSpPr>
          <p:cNvPr id="13" name="!!label0"/>
          <p:cNvSpPr txBox="1"/>
          <p:nvPr/>
        </p:nvSpPr>
        <p:spPr>
          <a:xfrm>
            <a:off x="6794500" y="1879600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Ihr stimmt euch ab.</a:t>
            </a:r>
          </a:p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Passt alles?</a:t>
            </a:r>
          </a:p>
        </p:txBody>
      </p:sp>
      <p:sp>
        <p:nvSpPr>
          <p:cNvPr id="14" name="!!knoten1"/>
          <p:cNvSpPr/>
          <p:nvPr/>
        </p:nvSpPr>
        <p:spPr>
          <a:xfrm>
            <a:off x="7256132" y="2891518"/>
            <a:ext cx="1085850" cy="1085850"/>
          </a:xfrm>
          <a:prstGeom prst="roundRect">
            <a:avLst>
              <a:gd name="adj" fmla="val 16374"/>
            </a:avLst>
          </a:prstGeom>
          <a:solidFill>
            <a:srgbClr val="D82034"/>
          </a:solidFill>
          <a:ln>
            <a:noFill/>
          </a:ln>
          <a:effectLst>
            <a:outerShdw blurRad="317500" dist="152400" dir="5400000" algn="t" rotWithShape="0">
              <a:srgbClr val="D8203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!!symbol1" descr="icon-hand-we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692" y="3181078"/>
            <a:ext cx="506730" cy="506730"/>
          </a:xfrm>
          <a:prstGeom prst="rect">
            <a:avLst/>
          </a:prstGeom>
        </p:spPr>
      </p:pic>
      <p:sp>
        <p:nvSpPr>
          <p:cNvPr id="16" name="!!nr1"/>
          <p:cNvSpPr/>
          <p:nvPr/>
        </p:nvSpPr>
        <p:spPr>
          <a:xfrm>
            <a:off x="8126082" y="2815318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nrt1"/>
          <p:cNvSpPr txBox="1"/>
          <p:nvPr/>
        </p:nvSpPr>
        <p:spPr>
          <a:xfrm>
            <a:off x="8126082" y="2815318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2</a:t>
            </a:r>
          </a:p>
        </p:txBody>
      </p:sp>
      <p:sp>
        <p:nvSpPr>
          <p:cNvPr id="18" name="!!label1"/>
          <p:cNvSpPr txBox="1"/>
          <p:nvPr/>
        </p:nvSpPr>
        <p:spPr>
          <a:xfrm>
            <a:off x="8497557" y="3028043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D82034"/>
                </a:solidFill>
                <a:latin typeface="Calibri"/>
              </a:rPr>
              <a:t>SCHRITT 2</a:t>
            </a:r>
          </a:p>
          <a:p>
            <a:pPr algn="l"/>
            <a:r>
              <a:rPr sz="1650" b="1" i="0">
                <a:solidFill>
                  <a:srgbClr val="1C1C1E"/>
                </a:solidFill>
                <a:latin typeface="Calibri"/>
              </a:rPr>
              <a:t>Wir kommen zum Training oder Spiel vorbei.</a:t>
            </a:r>
          </a:p>
        </p:txBody>
      </p:sp>
      <p:sp>
        <p:nvSpPr>
          <p:cNvPr id="19" name="!!knoten2"/>
          <p:cNvSpPr/>
          <p:nvPr/>
        </p:nvSpPr>
        <p:spPr>
          <a:xfrm>
            <a:off x="6672297" y="4960257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!!symbol2" descr="icon-people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297" y="5214257"/>
            <a:ext cx="444500" cy="444500"/>
          </a:xfrm>
          <a:prstGeom prst="rect">
            <a:avLst/>
          </a:prstGeom>
        </p:spPr>
      </p:pic>
      <p:sp>
        <p:nvSpPr>
          <p:cNvPr id="21" name="!!nr2"/>
          <p:cNvSpPr/>
          <p:nvPr/>
        </p:nvSpPr>
        <p:spPr>
          <a:xfrm>
            <a:off x="7408897" y="4884057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nrt2"/>
          <p:cNvSpPr txBox="1"/>
          <p:nvPr/>
        </p:nvSpPr>
        <p:spPr>
          <a:xfrm>
            <a:off x="7408897" y="4884057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3</a:t>
            </a:r>
          </a:p>
        </p:txBody>
      </p:sp>
      <p:sp>
        <p:nvSpPr>
          <p:cNvPr id="23" name="!!label2"/>
          <p:cNvSpPr txBox="1"/>
          <p:nvPr/>
        </p:nvSpPr>
        <p:spPr>
          <a:xfrm>
            <a:off x="7847047" y="5220607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A6A6AB"/>
                </a:solidFill>
                <a:latin typeface="Calibri"/>
              </a:rPr>
              <a:t>Mindestens 4 Tester testen uns.</a:t>
            </a:r>
          </a:p>
        </p:txBody>
      </p:sp>
      <p:sp>
        <p:nvSpPr>
          <p:cNvPr id="24" name="!!knoten3"/>
          <p:cNvSpPr/>
          <p:nvPr/>
        </p:nvSpPr>
        <p:spPr>
          <a:xfrm>
            <a:off x="4567203" y="4960257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!!symbol3" descr="icon-bag-r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203" y="5214257"/>
            <a:ext cx="444500" cy="444500"/>
          </a:xfrm>
          <a:prstGeom prst="rect">
            <a:avLst/>
          </a:prstGeom>
        </p:spPr>
      </p:pic>
      <p:sp>
        <p:nvSpPr>
          <p:cNvPr id="26" name="!!nr3"/>
          <p:cNvSpPr/>
          <p:nvPr/>
        </p:nvSpPr>
        <p:spPr>
          <a:xfrm>
            <a:off x="5303803" y="4884057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nrt3"/>
          <p:cNvSpPr txBox="1"/>
          <p:nvPr/>
        </p:nvSpPr>
        <p:spPr>
          <a:xfrm>
            <a:off x="5303803" y="4884057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4</a:t>
            </a:r>
          </a:p>
        </p:txBody>
      </p:sp>
      <p:sp>
        <p:nvSpPr>
          <p:cNvPr id="28" name="!!label3"/>
          <p:cNvSpPr txBox="1"/>
          <p:nvPr/>
        </p:nvSpPr>
        <p:spPr>
          <a:xfrm>
            <a:off x="1614453" y="5220607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50" b="1" i="0">
                <a:solidFill>
                  <a:srgbClr val="A6A6AB"/>
                </a:solidFill>
                <a:latin typeface="Calibri"/>
              </a:rPr>
              <a:t>Wir bestellen eure Ware.</a:t>
            </a:r>
          </a:p>
        </p:txBody>
      </p:sp>
      <p:sp>
        <p:nvSpPr>
          <p:cNvPr id="29" name="!!knoten4"/>
          <p:cNvSpPr/>
          <p:nvPr/>
        </p:nvSpPr>
        <p:spPr>
          <a:xfrm>
            <a:off x="3916693" y="2958193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!!symbol4" descr="icon-present-r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0693" y="3212193"/>
            <a:ext cx="444500" cy="444500"/>
          </a:xfrm>
          <a:prstGeom prst="rect">
            <a:avLst/>
          </a:prstGeom>
        </p:spPr>
      </p:pic>
      <p:sp>
        <p:nvSpPr>
          <p:cNvPr id="31" name="!!nr4"/>
          <p:cNvSpPr/>
          <p:nvPr/>
        </p:nvSpPr>
        <p:spPr>
          <a:xfrm>
            <a:off x="4653293" y="2881993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!!nrt4"/>
          <p:cNvSpPr txBox="1"/>
          <p:nvPr/>
        </p:nvSpPr>
        <p:spPr>
          <a:xfrm>
            <a:off x="4653293" y="2881993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5</a:t>
            </a:r>
          </a:p>
        </p:txBody>
      </p:sp>
      <p:sp>
        <p:nvSpPr>
          <p:cNvPr id="33" name="!!label4"/>
          <p:cNvSpPr txBox="1"/>
          <p:nvPr/>
        </p:nvSpPr>
        <p:spPr>
          <a:xfrm>
            <a:off x="963943" y="3218543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50" b="1" i="0">
                <a:solidFill>
                  <a:srgbClr val="A6A6AB"/>
                </a:solidFill>
                <a:latin typeface="Calibri"/>
              </a:rPr>
              <a:t>Wir kommen vorbei und stellen uns der gesamten Mannschaft vor.</a:t>
            </a:r>
          </a:p>
        </p:txBody>
      </p:sp>
      <p:pic>
        <p:nvPicPr>
          <p:cNvPr id="34" name="!!logo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-1470660" y="4287520"/>
            <a:ext cx="4846320" cy="48006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IV · WIE GEHT ES WEITER?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0" i="0">
                <a:solidFill>
                  <a:srgbClr val="1C1C1E"/>
                </a:solidFill>
                <a:latin typeface="Georgia"/>
              </a:rPr>
              <a:t>Weitere Vorgehensweise in 5 Schritten</a:t>
            </a:r>
          </a:p>
        </p:txBody>
      </p:sp>
      <p:sp>
        <p:nvSpPr>
          <p:cNvPr id="6" name="!!kreis"/>
          <p:cNvSpPr/>
          <p:nvPr/>
        </p:nvSpPr>
        <p:spPr>
          <a:xfrm>
            <a:off x="4305300" y="2197100"/>
            <a:ext cx="3581400" cy="3581400"/>
          </a:xfrm>
          <a:prstGeom prst="ellipse">
            <a:avLst/>
          </a:prstGeom>
          <a:noFill/>
          <a:ln w="19050">
            <a:solidFill>
              <a:srgbClr val="D3D3D8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bogen"/>
          <p:cNvSpPr/>
          <p:nvPr/>
        </p:nvSpPr>
        <p:spPr>
          <a:xfrm>
            <a:off x="4305300" y="2197100"/>
            <a:ext cx="3581400" cy="3581400"/>
          </a:xfrm>
          <a:prstGeom prst="arc">
            <a:avLst>
              <a:gd name="adj1" fmla="val 16200000"/>
              <a:gd name="adj2" fmla="val 3240000"/>
            </a:avLst>
          </a:prstGeom>
          <a:noFill/>
          <a:ln w="3175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komet"/>
          <p:cNvSpPr/>
          <p:nvPr/>
        </p:nvSpPr>
        <p:spPr>
          <a:xfrm>
            <a:off x="7078697" y="5366657"/>
            <a:ext cx="139700" cy="1397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knoten0"/>
          <p:cNvSpPr/>
          <p:nvPr/>
        </p:nvSpPr>
        <p:spPr>
          <a:xfrm>
            <a:off x="5619750" y="1720850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BE9EB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!!symbol0" descr="icon-thumb-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0" y="1974850"/>
            <a:ext cx="444500" cy="444500"/>
          </a:xfrm>
          <a:prstGeom prst="rect">
            <a:avLst/>
          </a:prstGeom>
        </p:spPr>
      </p:pic>
      <p:sp>
        <p:nvSpPr>
          <p:cNvPr id="11" name="!!nr0"/>
          <p:cNvSpPr/>
          <p:nvPr/>
        </p:nvSpPr>
        <p:spPr>
          <a:xfrm>
            <a:off x="6356350" y="1644650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nrt0"/>
          <p:cNvSpPr txBox="1"/>
          <p:nvPr/>
        </p:nvSpPr>
        <p:spPr>
          <a:xfrm>
            <a:off x="6356350" y="1644650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1</a:t>
            </a:r>
          </a:p>
        </p:txBody>
      </p:sp>
      <p:sp>
        <p:nvSpPr>
          <p:cNvPr id="13" name="!!label0"/>
          <p:cNvSpPr txBox="1"/>
          <p:nvPr/>
        </p:nvSpPr>
        <p:spPr>
          <a:xfrm>
            <a:off x="6794500" y="1879600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Ihr stimmt euch ab.</a:t>
            </a:r>
          </a:p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Passt alles?</a:t>
            </a:r>
          </a:p>
        </p:txBody>
      </p:sp>
      <p:sp>
        <p:nvSpPr>
          <p:cNvPr id="14" name="!!knoten1"/>
          <p:cNvSpPr/>
          <p:nvPr/>
        </p:nvSpPr>
        <p:spPr>
          <a:xfrm>
            <a:off x="7322807" y="2958193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BE9EB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!!symbol1" descr="icon-hand-r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07" y="3212193"/>
            <a:ext cx="444500" cy="444500"/>
          </a:xfrm>
          <a:prstGeom prst="rect">
            <a:avLst/>
          </a:prstGeom>
        </p:spPr>
      </p:pic>
      <p:sp>
        <p:nvSpPr>
          <p:cNvPr id="16" name="!!nr1"/>
          <p:cNvSpPr/>
          <p:nvPr/>
        </p:nvSpPr>
        <p:spPr>
          <a:xfrm>
            <a:off x="8059407" y="2881993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nrt1"/>
          <p:cNvSpPr txBox="1"/>
          <p:nvPr/>
        </p:nvSpPr>
        <p:spPr>
          <a:xfrm>
            <a:off x="8059407" y="2881993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2</a:t>
            </a:r>
          </a:p>
        </p:txBody>
      </p:sp>
      <p:sp>
        <p:nvSpPr>
          <p:cNvPr id="18" name="!!label1"/>
          <p:cNvSpPr txBox="1"/>
          <p:nvPr/>
        </p:nvSpPr>
        <p:spPr>
          <a:xfrm>
            <a:off x="8497557" y="3218543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Wir kommen zum Training oder Spiel vorbei.</a:t>
            </a:r>
          </a:p>
        </p:txBody>
      </p:sp>
      <p:sp>
        <p:nvSpPr>
          <p:cNvPr id="19" name="!!knoten2"/>
          <p:cNvSpPr/>
          <p:nvPr/>
        </p:nvSpPr>
        <p:spPr>
          <a:xfrm>
            <a:off x="6605622" y="4893582"/>
            <a:ext cx="1085850" cy="1085850"/>
          </a:xfrm>
          <a:prstGeom prst="roundRect">
            <a:avLst>
              <a:gd name="adj" fmla="val 16374"/>
            </a:avLst>
          </a:prstGeom>
          <a:solidFill>
            <a:srgbClr val="D82034"/>
          </a:solidFill>
          <a:ln>
            <a:noFill/>
          </a:ln>
          <a:effectLst>
            <a:outerShdw blurRad="317500" dist="152400" dir="5400000" algn="t" rotWithShape="0">
              <a:srgbClr val="D8203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!!symbol2" descr="icon-people-wei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182" y="5183142"/>
            <a:ext cx="506730" cy="506730"/>
          </a:xfrm>
          <a:prstGeom prst="rect">
            <a:avLst/>
          </a:prstGeom>
        </p:spPr>
      </p:pic>
      <p:sp>
        <p:nvSpPr>
          <p:cNvPr id="21" name="!!nr2"/>
          <p:cNvSpPr/>
          <p:nvPr/>
        </p:nvSpPr>
        <p:spPr>
          <a:xfrm>
            <a:off x="7475572" y="4817382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nrt2"/>
          <p:cNvSpPr txBox="1"/>
          <p:nvPr/>
        </p:nvSpPr>
        <p:spPr>
          <a:xfrm>
            <a:off x="7475572" y="4817382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3</a:t>
            </a:r>
          </a:p>
        </p:txBody>
      </p:sp>
      <p:sp>
        <p:nvSpPr>
          <p:cNvPr id="23" name="!!label2"/>
          <p:cNvSpPr txBox="1"/>
          <p:nvPr/>
        </p:nvSpPr>
        <p:spPr>
          <a:xfrm>
            <a:off x="7847047" y="5030107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D82034"/>
                </a:solidFill>
                <a:latin typeface="Calibri"/>
              </a:rPr>
              <a:t>SCHRITT 3</a:t>
            </a:r>
          </a:p>
          <a:p>
            <a:pPr algn="l"/>
            <a:r>
              <a:rPr sz="1650" b="1" i="0">
                <a:solidFill>
                  <a:srgbClr val="1C1C1E"/>
                </a:solidFill>
                <a:latin typeface="Calibri"/>
              </a:rPr>
              <a:t>Mindestens 4 Tester testen uns.</a:t>
            </a:r>
          </a:p>
        </p:txBody>
      </p:sp>
      <p:sp>
        <p:nvSpPr>
          <p:cNvPr id="24" name="!!knoten3"/>
          <p:cNvSpPr/>
          <p:nvPr/>
        </p:nvSpPr>
        <p:spPr>
          <a:xfrm>
            <a:off x="4567203" y="4960257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!!symbol3" descr="icon-bag-r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203" y="5214257"/>
            <a:ext cx="444500" cy="444500"/>
          </a:xfrm>
          <a:prstGeom prst="rect">
            <a:avLst/>
          </a:prstGeom>
        </p:spPr>
      </p:pic>
      <p:sp>
        <p:nvSpPr>
          <p:cNvPr id="26" name="!!nr3"/>
          <p:cNvSpPr/>
          <p:nvPr/>
        </p:nvSpPr>
        <p:spPr>
          <a:xfrm>
            <a:off x="5303803" y="4884057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nrt3"/>
          <p:cNvSpPr txBox="1"/>
          <p:nvPr/>
        </p:nvSpPr>
        <p:spPr>
          <a:xfrm>
            <a:off x="5303803" y="4884057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4</a:t>
            </a:r>
          </a:p>
        </p:txBody>
      </p:sp>
      <p:sp>
        <p:nvSpPr>
          <p:cNvPr id="28" name="!!label3"/>
          <p:cNvSpPr txBox="1"/>
          <p:nvPr/>
        </p:nvSpPr>
        <p:spPr>
          <a:xfrm>
            <a:off x="1614453" y="5220607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50" b="1" i="0">
                <a:solidFill>
                  <a:srgbClr val="A6A6AB"/>
                </a:solidFill>
                <a:latin typeface="Calibri"/>
              </a:rPr>
              <a:t>Wir bestellen eure Ware.</a:t>
            </a:r>
          </a:p>
        </p:txBody>
      </p:sp>
      <p:sp>
        <p:nvSpPr>
          <p:cNvPr id="29" name="!!knoten4"/>
          <p:cNvSpPr/>
          <p:nvPr/>
        </p:nvSpPr>
        <p:spPr>
          <a:xfrm>
            <a:off x="3916693" y="2958193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!!symbol4" descr="icon-present-r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0693" y="3212193"/>
            <a:ext cx="444500" cy="444500"/>
          </a:xfrm>
          <a:prstGeom prst="rect">
            <a:avLst/>
          </a:prstGeom>
        </p:spPr>
      </p:pic>
      <p:sp>
        <p:nvSpPr>
          <p:cNvPr id="31" name="!!nr4"/>
          <p:cNvSpPr/>
          <p:nvPr/>
        </p:nvSpPr>
        <p:spPr>
          <a:xfrm>
            <a:off x="4653293" y="2881993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!!nrt4"/>
          <p:cNvSpPr txBox="1"/>
          <p:nvPr/>
        </p:nvSpPr>
        <p:spPr>
          <a:xfrm>
            <a:off x="4653293" y="2881993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5</a:t>
            </a:r>
          </a:p>
        </p:txBody>
      </p:sp>
      <p:sp>
        <p:nvSpPr>
          <p:cNvPr id="33" name="!!label4"/>
          <p:cNvSpPr txBox="1"/>
          <p:nvPr/>
        </p:nvSpPr>
        <p:spPr>
          <a:xfrm>
            <a:off x="963943" y="3218543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50" b="1" i="0">
                <a:solidFill>
                  <a:srgbClr val="A6A6AB"/>
                </a:solidFill>
                <a:latin typeface="Calibri"/>
              </a:rPr>
              <a:t>Wir kommen vorbei und stellen uns der gesamten Mannschaft vor.</a:t>
            </a:r>
          </a:p>
        </p:txBody>
      </p:sp>
      <p:pic>
        <p:nvPicPr>
          <p:cNvPr id="34" name="!!logo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-1470660" y="4287520"/>
            <a:ext cx="4846320" cy="48006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IV · WIE GEHT ES WEITER?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0" i="0">
                <a:solidFill>
                  <a:srgbClr val="1C1C1E"/>
                </a:solidFill>
                <a:latin typeface="Georgia"/>
              </a:rPr>
              <a:t>Weitere Vorgehensweise in 5 Schritten</a:t>
            </a:r>
          </a:p>
        </p:txBody>
      </p:sp>
      <p:sp>
        <p:nvSpPr>
          <p:cNvPr id="6" name="!!kreis"/>
          <p:cNvSpPr/>
          <p:nvPr/>
        </p:nvSpPr>
        <p:spPr>
          <a:xfrm>
            <a:off x="4305300" y="2197100"/>
            <a:ext cx="3581400" cy="3581400"/>
          </a:xfrm>
          <a:prstGeom prst="ellipse">
            <a:avLst/>
          </a:prstGeom>
          <a:noFill/>
          <a:ln w="19050">
            <a:solidFill>
              <a:srgbClr val="D3D3D8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bogen"/>
          <p:cNvSpPr/>
          <p:nvPr/>
        </p:nvSpPr>
        <p:spPr>
          <a:xfrm>
            <a:off x="4305300" y="2197100"/>
            <a:ext cx="3581400" cy="3581400"/>
          </a:xfrm>
          <a:prstGeom prst="arc">
            <a:avLst>
              <a:gd name="adj1" fmla="val 16200000"/>
              <a:gd name="adj2" fmla="val 7559999"/>
            </a:avLst>
          </a:prstGeom>
          <a:noFill/>
          <a:ln w="3175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komet"/>
          <p:cNvSpPr/>
          <p:nvPr/>
        </p:nvSpPr>
        <p:spPr>
          <a:xfrm>
            <a:off x="4973603" y="5366657"/>
            <a:ext cx="139700" cy="1397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knoten0"/>
          <p:cNvSpPr/>
          <p:nvPr/>
        </p:nvSpPr>
        <p:spPr>
          <a:xfrm>
            <a:off x="5619750" y="1720850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BE9EB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!!symbol0" descr="icon-thumb-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0" y="1974850"/>
            <a:ext cx="444500" cy="444500"/>
          </a:xfrm>
          <a:prstGeom prst="rect">
            <a:avLst/>
          </a:prstGeom>
        </p:spPr>
      </p:pic>
      <p:sp>
        <p:nvSpPr>
          <p:cNvPr id="11" name="!!nr0"/>
          <p:cNvSpPr/>
          <p:nvPr/>
        </p:nvSpPr>
        <p:spPr>
          <a:xfrm>
            <a:off x="6356350" y="1644650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nrt0"/>
          <p:cNvSpPr txBox="1"/>
          <p:nvPr/>
        </p:nvSpPr>
        <p:spPr>
          <a:xfrm>
            <a:off x="6356350" y="1644650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1</a:t>
            </a:r>
          </a:p>
        </p:txBody>
      </p:sp>
      <p:sp>
        <p:nvSpPr>
          <p:cNvPr id="13" name="!!label0"/>
          <p:cNvSpPr txBox="1"/>
          <p:nvPr/>
        </p:nvSpPr>
        <p:spPr>
          <a:xfrm>
            <a:off x="6794500" y="1879600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Ihr stimmt euch ab.</a:t>
            </a:r>
          </a:p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Passt alles?</a:t>
            </a:r>
          </a:p>
        </p:txBody>
      </p:sp>
      <p:sp>
        <p:nvSpPr>
          <p:cNvPr id="14" name="!!knoten1"/>
          <p:cNvSpPr/>
          <p:nvPr/>
        </p:nvSpPr>
        <p:spPr>
          <a:xfrm>
            <a:off x="7322807" y="2958193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BE9EB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!!symbol1" descr="icon-hand-r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07" y="3212193"/>
            <a:ext cx="444500" cy="444500"/>
          </a:xfrm>
          <a:prstGeom prst="rect">
            <a:avLst/>
          </a:prstGeom>
        </p:spPr>
      </p:pic>
      <p:sp>
        <p:nvSpPr>
          <p:cNvPr id="16" name="!!nr1"/>
          <p:cNvSpPr/>
          <p:nvPr/>
        </p:nvSpPr>
        <p:spPr>
          <a:xfrm>
            <a:off x="8059407" y="2881993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nrt1"/>
          <p:cNvSpPr txBox="1"/>
          <p:nvPr/>
        </p:nvSpPr>
        <p:spPr>
          <a:xfrm>
            <a:off x="8059407" y="2881993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2</a:t>
            </a:r>
          </a:p>
        </p:txBody>
      </p:sp>
      <p:sp>
        <p:nvSpPr>
          <p:cNvPr id="18" name="!!label1"/>
          <p:cNvSpPr txBox="1"/>
          <p:nvPr/>
        </p:nvSpPr>
        <p:spPr>
          <a:xfrm>
            <a:off x="8497557" y="3218543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Wir kommen zum Training oder Spiel vorbei.</a:t>
            </a:r>
          </a:p>
        </p:txBody>
      </p:sp>
      <p:sp>
        <p:nvSpPr>
          <p:cNvPr id="19" name="!!knoten2"/>
          <p:cNvSpPr/>
          <p:nvPr/>
        </p:nvSpPr>
        <p:spPr>
          <a:xfrm>
            <a:off x="6672297" y="4960257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BE9EB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!!symbol2" descr="icon-people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297" y="5214257"/>
            <a:ext cx="444500" cy="444500"/>
          </a:xfrm>
          <a:prstGeom prst="rect">
            <a:avLst/>
          </a:prstGeom>
        </p:spPr>
      </p:pic>
      <p:sp>
        <p:nvSpPr>
          <p:cNvPr id="21" name="!!nr2"/>
          <p:cNvSpPr/>
          <p:nvPr/>
        </p:nvSpPr>
        <p:spPr>
          <a:xfrm>
            <a:off x="7408897" y="4884057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nrt2"/>
          <p:cNvSpPr txBox="1"/>
          <p:nvPr/>
        </p:nvSpPr>
        <p:spPr>
          <a:xfrm>
            <a:off x="7408897" y="4884057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3</a:t>
            </a:r>
          </a:p>
        </p:txBody>
      </p:sp>
      <p:sp>
        <p:nvSpPr>
          <p:cNvPr id="23" name="!!label2"/>
          <p:cNvSpPr txBox="1"/>
          <p:nvPr/>
        </p:nvSpPr>
        <p:spPr>
          <a:xfrm>
            <a:off x="7847047" y="5220607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Mindestens 4 Tester testen uns.</a:t>
            </a:r>
          </a:p>
        </p:txBody>
      </p:sp>
      <p:sp>
        <p:nvSpPr>
          <p:cNvPr id="24" name="!!knoten3"/>
          <p:cNvSpPr/>
          <p:nvPr/>
        </p:nvSpPr>
        <p:spPr>
          <a:xfrm>
            <a:off x="4500528" y="4893582"/>
            <a:ext cx="1085850" cy="1085850"/>
          </a:xfrm>
          <a:prstGeom prst="roundRect">
            <a:avLst>
              <a:gd name="adj" fmla="val 16374"/>
            </a:avLst>
          </a:prstGeom>
          <a:solidFill>
            <a:srgbClr val="D82034"/>
          </a:solidFill>
          <a:ln>
            <a:noFill/>
          </a:ln>
          <a:effectLst>
            <a:outerShdw blurRad="317500" dist="152400" dir="5400000" algn="t" rotWithShape="0">
              <a:srgbClr val="D8203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!!symbol3" descr="icon-bag-wei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0088" y="5183142"/>
            <a:ext cx="506730" cy="506730"/>
          </a:xfrm>
          <a:prstGeom prst="rect">
            <a:avLst/>
          </a:prstGeom>
        </p:spPr>
      </p:pic>
      <p:sp>
        <p:nvSpPr>
          <p:cNvPr id="26" name="!!nr3"/>
          <p:cNvSpPr/>
          <p:nvPr/>
        </p:nvSpPr>
        <p:spPr>
          <a:xfrm>
            <a:off x="5370478" y="4817382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nrt3"/>
          <p:cNvSpPr txBox="1"/>
          <p:nvPr/>
        </p:nvSpPr>
        <p:spPr>
          <a:xfrm>
            <a:off x="5370478" y="4817382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4</a:t>
            </a:r>
          </a:p>
        </p:txBody>
      </p:sp>
      <p:sp>
        <p:nvSpPr>
          <p:cNvPr id="28" name="!!label3"/>
          <p:cNvSpPr txBox="1"/>
          <p:nvPr/>
        </p:nvSpPr>
        <p:spPr>
          <a:xfrm>
            <a:off x="1614453" y="5030107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D82034"/>
                </a:solidFill>
                <a:latin typeface="Calibri"/>
              </a:rPr>
              <a:t>SCHRITT 4</a:t>
            </a:r>
          </a:p>
          <a:p>
            <a:pPr algn="r"/>
            <a:r>
              <a:rPr sz="1650" b="1" i="0">
                <a:solidFill>
                  <a:srgbClr val="1C1C1E"/>
                </a:solidFill>
                <a:latin typeface="Calibri"/>
              </a:rPr>
              <a:t>Wir bestellen eure Ware.</a:t>
            </a:r>
          </a:p>
        </p:txBody>
      </p:sp>
      <p:sp>
        <p:nvSpPr>
          <p:cNvPr id="29" name="!!knoten4"/>
          <p:cNvSpPr/>
          <p:nvPr/>
        </p:nvSpPr>
        <p:spPr>
          <a:xfrm>
            <a:off x="3916693" y="2958193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!!symbol4" descr="icon-present-r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0693" y="3212193"/>
            <a:ext cx="444500" cy="444500"/>
          </a:xfrm>
          <a:prstGeom prst="rect">
            <a:avLst/>
          </a:prstGeom>
        </p:spPr>
      </p:pic>
      <p:sp>
        <p:nvSpPr>
          <p:cNvPr id="31" name="!!nr4"/>
          <p:cNvSpPr/>
          <p:nvPr/>
        </p:nvSpPr>
        <p:spPr>
          <a:xfrm>
            <a:off x="4653293" y="2881993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!!nrt4"/>
          <p:cNvSpPr txBox="1"/>
          <p:nvPr/>
        </p:nvSpPr>
        <p:spPr>
          <a:xfrm>
            <a:off x="4653293" y="2881993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5</a:t>
            </a:r>
          </a:p>
        </p:txBody>
      </p:sp>
      <p:sp>
        <p:nvSpPr>
          <p:cNvPr id="33" name="!!label4"/>
          <p:cNvSpPr txBox="1"/>
          <p:nvPr/>
        </p:nvSpPr>
        <p:spPr>
          <a:xfrm>
            <a:off x="963943" y="3218543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50" b="1" i="0">
                <a:solidFill>
                  <a:srgbClr val="A6A6AB"/>
                </a:solidFill>
                <a:latin typeface="Calibri"/>
              </a:rPr>
              <a:t>Wir kommen vorbei und stellen uns der gesamten Mannschaft vor.</a:t>
            </a:r>
          </a:p>
        </p:txBody>
      </p:sp>
      <p:pic>
        <p:nvPicPr>
          <p:cNvPr id="34" name="!!logo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nd" descr="band-wasserz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-1470660" y="4287520"/>
            <a:ext cx="4846320" cy="4800600"/>
          </a:xfrm>
          <a:prstGeom prst="rect">
            <a:avLst/>
          </a:prstGeom>
        </p:spPr>
      </p:pic>
      <p:sp>
        <p:nvSpPr>
          <p:cNvPr id="3" name="!!kline"/>
          <p:cNvSpPr/>
          <p:nvPr/>
        </p:nvSpPr>
        <p:spPr>
          <a:xfrm>
            <a:off x="952500" y="812800"/>
            <a:ext cx="292100" cy="15875"/>
          </a:xfrm>
          <a:prstGeom prst="rect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kicker"/>
          <p:cNvSpPr txBox="1"/>
          <p:nvPr/>
        </p:nvSpPr>
        <p:spPr>
          <a:xfrm>
            <a:off x="1346200" y="7620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 spc="400">
                <a:solidFill>
                  <a:srgbClr val="D82034"/>
                </a:solidFill>
                <a:latin typeface="Calibri"/>
              </a:rPr>
              <a:t>IV · WIE GEHT ES WEITER?</a:t>
            </a:r>
          </a:p>
        </p:txBody>
      </p:sp>
      <p:sp>
        <p:nvSpPr>
          <p:cNvPr id="5" name="!!titel"/>
          <p:cNvSpPr txBox="1"/>
          <p:nvPr/>
        </p:nvSpPr>
        <p:spPr>
          <a:xfrm>
            <a:off x="952500" y="10160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0" i="0">
                <a:solidFill>
                  <a:srgbClr val="1C1C1E"/>
                </a:solidFill>
                <a:latin typeface="Georgia"/>
              </a:rPr>
              <a:t>Weitere Vorgehensweise in 5 Schritten</a:t>
            </a:r>
          </a:p>
        </p:txBody>
      </p:sp>
      <p:sp>
        <p:nvSpPr>
          <p:cNvPr id="6" name="!!kreis"/>
          <p:cNvSpPr/>
          <p:nvPr/>
        </p:nvSpPr>
        <p:spPr>
          <a:xfrm>
            <a:off x="4305300" y="2197100"/>
            <a:ext cx="3581400" cy="3581400"/>
          </a:xfrm>
          <a:prstGeom prst="ellipse">
            <a:avLst/>
          </a:prstGeom>
          <a:noFill/>
          <a:ln w="19050">
            <a:solidFill>
              <a:srgbClr val="D3D3D8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bogen"/>
          <p:cNvSpPr/>
          <p:nvPr/>
        </p:nvSpPr>
        <p:spPr>
          <a:xfrm>
            <a:off x="4305300" y="2197100"/>
            <a:ext cx="3581400" cy="3581400"/>
          </a:xfrm>
          <a:prstGeom prst="arc">
            <a:avLst>
              <a:gd name="adj1" fmla="val 16200000"/>
              <a:gd name="adj2" fmla="val 11880000"/>
            </a:avLst>
          </a:prstGeom>
          <a:noFill/>
          <a:ln w="3175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komet"/>
          <p:cNvSpPr/>
          <p:nvPr/>
        </p:nvSpPr>
        <p:spPr>
          <a:xfrm>
            <a:off x="4323093" y="3364593"/>
            <a:ext cx="139700" cy="139700"/>
          </a:xfrm>
          <a:prstGeom prst="ellipse">
            <a:avLst/>
          </a:prstGeom>
          <a:solidFill>
            <a:srgbClr val="D8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knoten0"/>
          <p:cNvSpPr/>
          <p:nvPr/>
        </p:nvSpPr>
        <p:spPr>
          <a:xfrm>
            <a:off x="5619750" y="1720850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BE9EB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!!symbol0" descr="icon-thumb-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0" y="1974850"/>
            <a:ext cx="444500" cy="444500"/>
          </a:xfrm>
          <a:prstGeom prst="rect">
            <a:avLst/>
          </a:prstGeom>
        </p:spPr>
      </p:pic>
      <p:sp>
        <p:nvSpPr>
          <p:cNvPr id="11" name="!!nr0"/>
          <p:cNvSpPr/>
          <p:nvPr/>
        </p:nvSpPr>
        <p:spPr>
          <a:xfrm>
            <a:off x="6356350" y="1644650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nrt0"/>
          <p:cNvSpPr txBox="1"/>
          <p:nvPr/>
        </p:nvSpPr>
        <p:spPr>
          <a:xfrm>
            <a:off x="6356350" y="1644650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1</a:t>
            </a:r>
          </a:p>
        </p:txBody>
      </p:sp>
      <p:sp>
        <p:nvSpPr>
          <p:cNvPr id="13" name="!!label0"/>
          <p:cNvSpPr txBox="1"/>
          <p:nvPr/>
        </p:nvSpPr>
        <p:spPr>
          <a:xfrm>
            <a:off x="6794500" y="1879600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Ihr stimmt euch ab.</a:t>
            </a:r>
          </a:p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Passt alles?</a:t>
            </a:r>
          </a:p>
        </p:txBody>
      </p:sp>
      <p:sp>
        <p:nvSpPr>
          <p:cNvPr id="14" name="!!knoten1"/>
          <p:cNvSpPr/>
          <p:nvPr/>
        </p:nvSpPr>
        <p:spPr>
          <a:xfrm>
            <a:off x="7322807" y="2958193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BE9EB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!!symbol1" descr="icon-hand-r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07" y="3212193"/>
            <a:ext cx="444500" cy="444500"/>
          </a:xfrm>
          <a:prstGeom prst="rect">
            <a:avLst/>
          </a:prstGeom>
        </p:spPr>
      </p:pic>
      <p:sp>
        <p:nvSpPr>
          <p:cNvPr id="16" name="!!nr1"/>
          <p:cNvSpPr/>
          <p:nvPr/>
        </p:nvSpPr>
        <p:spPr>
          <a:xfrm>
            <a:off x="8059407" y="2881993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nrt1"/>
          <p:cNvSpPr txBox="1"/>
          <p:nvPr/>
        </p:nvSpPr>
        <p:spPr>
          <a:xfrm>
            <a:off x="8059407" y="2881993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2</a:t>
            </a:r>
          </a:p>
        </p:txBody>
      </p:sp>
      <p:sp>
        <p:nvSpPr>
          <p:cNvPr id="18" name="!!label1"/>
          <p:cNvSpPr txBox="1"/>
          <p:nvPr/>
        </p:nvSpPr>
        <p:spPr>
          <a:xfrm>
            <a:off x="8497557" y="3218543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Wir kommen zum Training oder Spiel vorbei.</a:t>
            </a:r>
          </a:p>
        </p:txBody>
      </p:sp>
      <p:sp>
        <p:nvSpPr>
          <p:cNvPr id="19" name="!!knoten2"/>
          <p:cNvSpPr/>
          <p:nvPr/>
        </p:nvSpPr>
        <p:spPr>
          <a:xfrm>
            <a:off x="6672297" y="4960257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BE9EB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!!symbol2" descr="icon-people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297" y="5214257"/>
            <a:ext cx="444500" cy="444500"/>
          </a:xfrm>
          <a:prstGeom prst="rect">
            <a:avLst/>
          </a:prstGeom>
        </p:spPr>
      </p:pic>
      <p:sp>
        <p:nvSpPr>
          <p:cNvPr id="21" name="!!nr2"/>
          <p:cNvSpPr/>
          <p:nvPr/>
        </p:nvSpPr>
        <p:spPr>
          <a:xfrm>
            <a:off x="7408897" y="4884057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nrt2"/>
          <p:cNvSpPr txBox="1"/>
          <p:nvPr/>
        </p:nvSpPr>
        <p:spPr>
          <a:xfrm>
            <a:off x="7408897" y="4884057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3</a:t>
            </a:r>
          </a:p>
        </p:txBody>
      </p:sp>
      <p:sp>
        <p:nvSpPr>
          <p:cNvPr id="23" name="!!label2"/>
          <p:cNvSpPr txBox="1"/>
          <p:nvPr/>
        </p:nvSpPr>
        <p:spPr>
          <a:xfrm>
            <a:off x="7847047" y="5220607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 i="0">
                <a:solidFill>
                  <a:srgbClr val="3B3B3F"/>
                </a:solidFill>
                <a:latin typeface="Calibri"/>
              </a:rPr>
              <a:t>Mindestens 4 Tester testen uns.</a:t>
            </a:r>
          </a:p>
        </p:txBody>
      </p:sp>
      <p:sp>
        <p:nvSpPr>
          <p:cNvPr id="24" name="!!knoten3"/>
          <p:cNvSpPr/>
          <p:nvPr/>
        </p:nvSpPr>
        <p:spPr>
          <a:xfrm>
            <a:off x="4567203" y="4960257"/>
            <a:ext cx="952500" cy="952500"/>
          </a:xfrm>
          <a:prstGeom prst="roundRect">
            <a:avLst>
              <a:gd name="adj" fmla="val 18666"/>
            </a:avLst>
          </a:prstGeom>
          <a:solidFill>
            <a:srgbClr val="FBE9EB"/>
          </a:solidFill>
          <a:ln w="12700">
            <a:solidFill>
              <a:srgbClr val="F3C4CA"/>
            </a:solidFill>
          </a:ln>
          <a:effectLst>
            <a:outerShdw blurRad="254000" dist="1016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!!symbol3" descr="icon-bag-r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203" y="5214257"/>
            <a:ext cx="444500" cy="444500"/>
          </a:xfrm>
          <a:prstGeom prst="rect">
            <a:avLst/>
          </a:prstGeom>
        </p:spPr>
      </p:pic>
      <p:sp>
        <p:nvSpPr>
          <p:cNvPr id="26" name="!!nr3"/>
          <p:cNvSpPr/>
          <p:nvPr/>
        </p:nvSpPr>
        <p:spPr>
          <a:xfrm>
            <a:off x="5303803" y="4884057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nrt3"/>
          <p:cNvSpPr txBox="1"/>
          <p:nvPr/>
        </p:nvSpPr>
        <p:spPr>
          <a:xfrm>
            <a:off x="5303803" y="4884057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4</a:t>
            </a:r>
          </a:p>
        </p:txBody>
      </p:sp>
      <p:sp>
        <p:nvSpPr>
          <p:cNvPr id="28" name="!!label3"/>
          <p:cNvSpPr txBox="1"/>
          <p:nvPr/>
        </p:nvSpPr>
        <p:spPr>
          <a:xfrm>
            <a:off x="1614453" y="5220607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50" b="1" i="0">
                <a:solidFill>
                  <a:srgbClr val="3B3B3F"/>
                </a:solidFill>
                <a:latin typeface="Calibri"/>
              </a:rPr>
              <a:t>Wir bestellen eure Ware.</a:t>
            </a:r>
          </a:p>
        </p:txBody>
      </p:sp>
      <p:sp>
        <p:nvSpPr>
          <p:cNvPr id="29" name="!!knoten4"/>
          <p:cNvSpPr/>
          <p:nvPr/>
        </p:nvSpPr>
        <p:spPr>
          <a:xfrm>
            <a:off x="3850018" y="2891518"/>
            <a:ext cx="1085850" cy="1085850"/>
          </a:xfrm>
          <a:prstGeom prst="roundRect">
            <a:avLst>
              <a:gd name="adj" fmla="val 16374"/>
            </a:avLst>
          </a:prstGeom>
          <a:solidFill>
            <a:srgbClr val="D82034"/>
          </a:solidFill>
          <a:ln>
            <a:noFill/>
          </a:ln>
          <a:effectLst>
            <a:outerShdw blurRad="317500" dist="152400" dir="5400000" algn="t" rotWithShape="0">
              <a:srgbClr val="D8203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!!symbol4" descr="icon-present-wei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9578" y="3181078"/>
            <a:ext cx="506730" cy="506730"/>
          </a:xfrm>
          <a:prstGeom prst="rect">
            <a:avLst/>
          </a:prstGeom>
        </p:spPr>
      </p:pic>
      <p:sp>
        <p:nvSpPr>
          <p:cNvPr id="31" name="!!nr4"/>
          <p:cNvSpPr/>
          <p:nvPr/>
        </p:nvSpPr>
        <p:spPr>
          <a:xfrm>
            <a:off x="4719968" y="2815318"/>
            <a:ext cx="292100" cy="2921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!!nrt4"/>
          <p:cNvSpPr txBox="1"/>
          <p:nvPr/>
        </p:nvSpPr>
        <p:spPr>
          <a:xfrm>
            <a:off x="4719968" y="2815318"/>
            <a:ext cx="292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D82034"/>
                </a:solidFill>
                <a:latin typeface="Calibri"/>
              </a:rPr>
              <a:t>5</a:t>
            </a:r>
          </a:p>
        </p:txBody>
      </p:sp>
      <p:sp>
        <p:nvSpPr>
          <p:cNvPr id="33" name="!!label4"/>
          <p:cNvSpPr txBox="1"/>
          <p:nvPr/>
        </p:nvSpPr>
        <p:spPr>
          <a:xfrm>
            <a:off x="963943" y="3028043"/>
            <a:ext cx="2730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50" b="1" i="0">
                <a:solidFill>
                  <a:srgbClr val="D82034"/>
                </a:solidFill>
                <a:latin typeface="Calibri"/>
              </a:rPr>
              <a:t>SCHRITT 5</a:t>
            </a:r>
          </a:p>
          <a:p>
            <a:pPr algn="r"/>
            <a:r>
              <a:rPr sz="1650" b="1" i="0">
                <a:solidFill>
                  <a:srgbClr val="1C1C1E"/>
                </a:solidFill>
                <a:latin typeface="Calibri"/>
              </a:rPr>
              <a:t>Wir kommen vorbei und stellen uns der gesamten Mannschaft vor.</a:t>
            </a:r>
          </a:p>
        </p:txBody>
      </p:sp>
      <p:pic>
        <p:nvPicPr>
          <p:cNvPr id="34" name="!!logo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5981700"/>
            <a:ext cx="812800" cy="708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030" y="774700"/>
            <a:ext cx="1805305" cy="1572872"/>
          </a:xfrm>
          <a:prstGeom prst="rect">
            <a:avLst/>
          </a:prstGeom>
        </p:spPr>
      </p:pic>
      <p:sp>
        <p:nvSpPr>
          <p:cNvPr id="3" name="!!titel"/>
          <p:cNvSpPr txBox="1"/>
          <p:nvPr/>
        </p:nvSpPr>
        <p:spPr>
          <a:xfrm>
            <a:off x="1016000" y="2857500"/>
            <a:ext cx="101600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4600" b="0" i="0">
                <a:solidFill>
                  <a:srgbClr val="1C1C1E"/>
                </a:solidFill>
                <a:latin typeface="Georgia"/>
              </a:rPr>
              <a:t>Sollen wir eure Bewerbung berücksichtigen?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030" y="774700"/>
            <a:ext cx="1805305" cy="1572872"/>
          </a:xfrm>
          <a:prstGeom prst="rect">
            <a:avLst/>
          </a:prstGeom>
        </p:spPr>
      </p:pic>
      <p:sp>
        <p:nvSpPr>
          <p:cNvPr id="3" name="!!titel"/>
          <p:cNvSpPr txBox="1"/>
          <p:nvPr/>
        </p:nvSpPr>
        <p:spPr>
          <a:xfrm>
            <a:off x="1016000" y="2857500"/>
            <a:ext cx="101600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4600" b="0" i="0">
                <a:solidFill>
                  <a:srgbClr val="1C1C1E"/>
                </a:solidFill>
                <a:latin typeface="Georgia"/>
              </a:rPr>
              <a:t>Sollen wir eure Bewerbung berücksichtigen?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59300"/>
            <a:ext cx="12192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900" b="1" i="1">
                <a:solidFill>
                  <a:srgbClr val="D82034"/>
                </a:solidFill>
                <a:latin typeface="Georgia"/>
              </a:rPr>
              <a:t>Wir freuen uns auf euch!</a:t>
            </a:r>
          </a:p>
        </p:txBody>
      </p:sp>
      <p:pic>
        <p:nvPicPr>
          <p:cNvPr id="5" name="Konfetti" descr="konfe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